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entation.xml" ContentType="application/vnd.openxmlformats-officedocument.presentationml.presentation.main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4"/>
  </p:notesMasterIdLst>
  <p:handoutMasterIdLst>
    <p:handoutMasterId r:id="rId35"/>
  </p:handoutMasterIdLst>
  <p:sldIdLst>
    <p:sldId id="256" r:id="rId4"/>
    <p:sldId id="257" r:id="rId5"/>
    <p:sldId id="258" r:id="rId6"/>
    <p:sldId id="409" r:id="rId7"/>
    <p:sldId id="455" r:id="rId8"/>
    <p:sldId id="456" r:id="rId9"/>
    <p:sldId id="457" r:id="rId10"/>
    <p:sldId id="458" r:id="rId11"/>
    <p:sldId id="459" r:id="rId12"/>
    <p:sldId id="463" r:id="rId13"/>
    <p:sldId id="464" r:id="rId14"/>
    <p:sldId id="465" r:id="rId15"/>
    <p:sldId id="466" r:id="rId16"/>
    <p:sldId id="462" r:id="rId17"/>
    <p:sldId id="468" r:id="rId18"/>
    <p:sldId id="469" r:id="rId19"/>
    <p:sldId id="470" r:id="rId20"/>
    <p:sldId id="467" r:id="rId21"/>
    <p:sldId id="460" r:id="rId22"/>
    <p:sldId id="471" r:id="rId23"/>
    <p:sldId id="472" r:id="rId24"/>
    <p:sldId id="473" r:id="rId25"/>
    <p:sldId id="461" r:id="rId26"/>
    <p:sldId id="474" r:id="rId27"/>
    <p:sldId id="475" r:id="rId28"/>
    <p:sldId id="476" r:id="rId29"/>
    <p:sldId id="477" r:id="rId30"/>
    <p:sldId id="478" r:id="rId31"/>
    <p:sldId id="454" r:id="rId32"/>
    <p:sldId id="282" r:id="rId33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1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3164"/>
    <a:srgbClr val="225B5F"/>
    <a:srgbClr val="E6E6E6"/>
    <a:srgbClr val="0F1722"/>
    <a:srgbClr val="348151"/>
    <a:srgbClr val="1B2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8" y="72"/>
      </p:cViewPr>
      <p:guideLst>
        <p:guide orient="horz" pos="2160"/>
        <p:guide pos="3840"/>
        <p:guide orient="horz" pos="311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40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>
            <a:extLst>
              <a:ext uri="{FF2B5EF4-FFF2-40B4-BE49-F238E27FC236}">
                <a16:creationId xmlns:a16="http://schemas.microsoft.com/office/drawing/2014/main" id="{5E4FC509-A25D-4AC1-956B-244FAC61AF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F1EDCBDF-04F2-4646-A118-9A2CBABEDF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155A0F4-67A8-4DDF-B72F-F078B64BFF36}" type="datetime1">
              <a:rPr lang="ro-RO" smtClean="0"/>
              <a:t>09.12.2025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95BD4EF4-9023-4CAF-937E-F78CF009DBD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C0300887-CA61-4CEF-BD28-E51D6F957D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A00C303-0EDA-42E1-9745-6C6A39A7B5C4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167664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73D40-B89D-443E-A396-B604801B68BE}" type="datetime1">
              <a:rPr lang="ro-RO" noProof="0" smtClean="0"/>
              <a:pPr/>
              <a:t>09.12.2025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Editați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FC40A10-6036-4879-816D-55C01FC948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6573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48339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01811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87154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C810B-9684-EC2A-752E-1F79C8F0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E812551-17FF-CB12-AEC1-825FE4DE2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23289E9-6027-BE29-EC71-ADF3D4686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9763F33-D9C5-00CE-D939-EB9E68A48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254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9AB9-1056-92E8-12A8-1489D3D9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97415C4-CCF4-08F9-4BE3-CD208E8A6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562EE2A-0DB8-A22A-C6B8-2BAFF82A1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003B04C-A14E-D20F-E0F8-F49AFB103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74410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9AB9-1056-92E8-12A8-1489D3D9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97415C4-CCF4-08F9-4BE3-CD208E8A6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562EE2A-0DB8-A22A-C6B8-2BAFF82A1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003B04C-A14E-D20F-E0F8-F49AFB103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95043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9AB9-1056-92E8-12A8-1489D3D9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97415C4-CCF4-08F9-4BE3-CD208E8A6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562EE2A-0DB8-A22A-C6B8-2BAFF82A1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003B04C-A14E-D20F-E0F8-F49AFB103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4944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9AB9-1056-92E8-12A8-1489D3D9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97415C4-CCF4-08F9-4BE3-CD208E8A62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562EE2A-0DB8-A22A-C6B8-2BAFF82A19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003B04C-A14E-D20F-E0F8-F49AFB103B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35252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5920-422D-8E6E-D7F6-9AFA8E83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2637D7AC-631F-F044-C04B-CFD26CCB3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869F1AF-EF10-15B4-1321-BC4CBA483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77088390-934B-B5A7-3C5F-390F41E4A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38391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03D-3CA2-29C0-BFCF-3DB2CA3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DA6AE71-8C1B-5FD4-5F2F-42BAFB9B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0AAEDC6-AC7E-505F-60D1-974E1BF5C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4949BAE-CAFC-82B1-FE5A-52A27DDC6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0323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03D-3CA2-29C0-BFCF-3DB2CA3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DA6AE71-8C1B-5FD4-5F2F-42BAFB9B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0AAEDC6-AC7E-505F-60D1-974E1BF5C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4949BAE-CAFC-82B1-FE5A-52A27DDC6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74216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03D-3CA2-29C0-BFCF-3DB2CA3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DA6AE71-8C1B-5FD4-5F2F-42BAFB9B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0AAEDC6-AC7E-505F-60D1-974E1BF5C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4949BAE-CAFC-82B1-FE5A-52A27DDC6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33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D03D-3CA2-29C0-BFCF-3DB2CA39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DA6AE71-8C1B-5FD4-5F2F-42BAFB9B5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50AAEDC6-AC7E-505F-60D1-974E1BF5C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14949BAE-CAFC-82B1-FE5A-52A27DDC6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103582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309B-D24D-77C5-5011-C616E0D77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6B66CB4-5212-0EB3-35AD-1CBEDC1FF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A40178CA-8030-814F-2EE3-102823FAA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96D5EB0-E8EF-3E67-37F8-982391044B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357586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0A90F-2D94-59D7-77F5-2FDE6E23E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6374ED64-28F5-022A-84EC-8D333347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4B2DB32C-7E30-6A27-C604-14A417EDB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1D4539A-F95E-3C91-50BF-8873609A1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61407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97AA-B26B-1953-3E82-91E70A30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D4BE3A8B-5346-FD33-7802-FC61BE867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3A75C1AB-D07A-C4F3-FF83-5D3B4599E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E329A846-98CE-4996-684F-787742FC2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8938955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9F9F-47DE-1629-94CF-25819B6DC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4D41D50-39CF-6433-315B-08688F97A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D49C9DAD-3232-E3A7-3A1C-18C9D16C1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7094367-3946-2B86-BE92-5310B47C6B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70379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8DD7-7EA2-6483-C0DC-E7B8A6FB2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338B5656-F1B3-B7A6-EF5E-65FB6AFBE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DDD271D-94F0-EBBA-F0FB-0AF1DD393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4472B0B8-3D89-66C3-4E7B-A8CC1388D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26583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C671-6306-1A51-7C1A-853247B9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0410E63-A742-037E-99C6-CB596B72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47D138E-CA68-6DDB-5C58-7F58C4CE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2E3544B-96FE-0804-3EF3-25FFEE0CA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19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6468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C3FE-5701-E9FD-8EE9-8D083003A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D092553-A858-4B2F-02D4-D7EF3B43D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6EE747F-F82F-2AF1-A924-C56079CA2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FDCEE23C-7C7B-3610-8255-0355E0E87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324264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4CA7E-FDB4-4439-F7BB-FE1B60D5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2C813E99-A6B3-AEB3-93D6-4B368E587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80E7C10-F20B-34F6-31ED-1C8DDE723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5E64A01-7CE8-5365-4B85-A09F89817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9401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D63F6-3FD4-1137-1342-3D8006DA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423F5EF6-0FD2-D169-1E51-E2554C6DA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384A723E-6DD2-7059-B0F5-136CEC922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8226560-F707-448D-4367-3FADBA436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22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48613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C671-6306-1A51-7C1A-853247B9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0410E63-A742-037E-99C6-CB596B72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47D138E-CA68-6DDB-5C58-7F58C4CE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2E3544B-96FE-0804-3EF3-25FFEE0CA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23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2750652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7D9D-7143-6833-370B-7D065B36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19195784-5CE7-A428-62F1-E1862C6E3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33880640-BE58-9302-2977-08B064112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C24F7808-7D6D-11D2-F2B5-CC465C471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24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000548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8C2A-FE42-47B8-79D5-641DBADD0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6D5EEAFF-012F-3760-8FC8-13DFDF510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8F098509-D68C-60E4-F387-2E0B5CE16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F4BD9C6-E5D3-527D-BE63-3676B32141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25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496988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6864-B7B2-2D4A-4996-893A1E22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9FE9F296-1859-3D18-4EF0-F46F787CC6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996A09E8-B3F4-E86A-C660-30B65A27A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A2D59411-1F6C-9B5E-9F7E-6C84807B9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26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0779286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C671-6306-1A51-7C1A-853247B9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0410E63-A742-037E-99C6-CB596B72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47D138E-CA68-6DDB-5C58-7F58C4CE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2E3544B-96FE-0804-3EF3-25FFEE0CA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996669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C671-6306-1A51-7C1A-853247B9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B0410E63-A742-037E-99C6-CB596B72E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247D138E-CA68-6DDB-5C58-7F58C4CE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2E3544B-96FE-0804-3EF3-25FFEE0CAE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28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938110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B87F0-D28C-A66D-12DC-683DFCA0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7AC215E1-DA41-B791-9678-9B04AD8AB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7D323370-20A7-8442-AFAD-21C4183D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EFB3FF6-6356-683A-911B-98527CA3B1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29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1189810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6FC40A10-6036-4879-816D-55C01FC94846}" type="slidenum">
              <a:rPr lang="ro-RO" smtClean="0"/>
              <a:t>30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5286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titlu cu sigl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sp>
        <p:nvSpPr>
          <p:cNvPr id="10" name="Substituent imagine 9">
            <a:extLst>
              <a:ext uri="{FF2B5EF4-FFF2-40B4-BE49-F238E27FC236}">
                <a16:creationId xmlns:a16="http://schemas.microsoft.com/office/drawing/2014/main" id="{EA313B4B-5B98-4B33-885A-DF7669E72D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5336" y="117298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592857" y="2253996"/>
            <a:ext cx="5059349" cy="100584"/>
            <a:chOff x="3632179" y="2253996"/>
            <a:chExt cx="5059349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21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63971" y="2307679"/>
              <a:ext cx="494270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590944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6" name="Gr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509141" y="5305363"/>
            <a:ext cx="3254397" cy="100584"/>
            <a:chOff x="3506762" y="2253996"/>
            <a:chExt cx="5668705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506762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8" name="Conector drept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31690" y="2307679"/>
              <a:ext cx="546551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999887" y="2253996"/>
              <a:ext cx="175580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42463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et secțiune cu 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stituent imagine 7">
            <a:extLst>
              <a:ext uri="{FF2B5EF4-FFF2-40B4-BE49-F238E27FC236}">
                <a16:creationId xmlns:a16="http://schemas.microsoft.com/office/drawing/2014/main" id="{C799DC18-D353-427C-B849-0204F13D9B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8330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ro-RO" noProof="0" dirty="0"/>
              <a:t>PREZENTARE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2386683"/>
            <a:ext cx="4698084" cy="102440"/>
            <a:chOff x="3631690" y="2252140"/>
            <a:chExt cx="8183399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1" name="Conector drept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799528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11639510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295484"/>
            <a:ext cx="4698084" cy="100584"/>
            <a:chOff x="3631690" y="2253996"/>
            <a:chExt cx="8183393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5" name="Conector drept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3" y="2307679"/>
              <a:ext cx="7995278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11639504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Subtitlu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sp>
        <p:nvSpPr>
          <p:cNvPr id="18" name="Substituent imagine 9">
            <a:extLst>
              <a:ext uri="{FF2B5EF4-FFF2-40B4-BE49-F238E27FC236}">
                <a16:creationId xmlns:a16="http://schemas.microsoft.com/office/drawing/2014/main" id="{4293BA4F-7776-4C41-BE4F-7247935D5C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06368" y="3079602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907692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u și conținut cu i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205904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3251227" cy="100800"/>
            <a:chOff x="0" y="3240138"/>
            <a:chExt cx="3251227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208093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15042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215201" cy="13283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DE71F7A0-F439-470D-A1B8-556C960D1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3003" y="2490534"/>
            <a:ext cx="6083300" cy="25877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39969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itlu, imagine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090118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243662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1993043"/>
            <a:ext cx="5267325" cy="100800"/>
            <a:chOff x="0" y="3240138"/>
            <a:chExt cx="3434400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2868443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F0861AA2-8248-462C-B6D8-FFD829F41E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54411" y="1472184"/>
            <a:ext cx="324620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4763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itlu și conținut 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19359"/>
            <a:ext cx="5021940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122284"/>
            <a:ext cx="2555857" cy="100800"/>
            <a:chOff x="0" y="3240138"/>
            <a:chExt cx="2555857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49218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455057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ubstituent text 2">
            <a:extLst>
              <a:ext uri="{FF2B5EF4-FFF2-40B4-BE49-F238E27FC236}">
                <a16:creationId xmlns:a16="http://schemas.microsoft.com/office/drawing/2014/main" id="{4C9D5785-B116-4BE7-AC26-5CD6481FFA6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392200"/>
            <a:ext cx="5009495" cy="221017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3" name="Substituent imagine 7">
            <a:extLst>
              <a:ext uri="{FF2B5EF4-FFF2-40B4-BE49-F238E27FC236}">
                <a16:creationId xmlns:a16="http://schemas.microsoft.com/office/drawing/2014/main" id="{278C2B8F-0B29-449C-AFFD-42BB56FA15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8356" y="-20834"/>
            <a:ext cx="5245444" cy="5385816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310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pictog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317" y="707529"/>
            <a:ext cx="4494133" cy="569086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00317" y="1625821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430402" y="1375202"/>
            <a:ext cx="5761598" cy="100800"/>
            <a:chOff x="-322276" y="3240138"/>
            <a:chExt cx="3756676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76" y="3290538"/>
              <a:ext cx="37062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920469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4" name="Substituent imagine 3">
            <a:extLst>
              <a:ext uri="{FF2B5EF4-FFF2-40B4-BE49-F238E27FC236}">
                <a16:creationId xmlns:a16="http://schemas.microsoft.com/office/drawing/2014/main" id="{1EDA47E0-9B2C-45BF-A34A-E7069690AE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90460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1850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C7A796C4-1255-4B26-B034-EFB1284B77E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920469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imagine 3">
            <a:extLst>
              <a:ext uri="{FF2B5EF4-FFF2-40B4-BE49-F238E27FC236}">
                <a16:creationId xmlns:a16="http://schemas.microsoft.com/office/drawing/2014/main" id="{7F406E84-6EA1-4D34-8016-6A41F065FF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90460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5" name="Substituent text 2">
            <a:extLst>
              <a:ext uri="{FF2B5EF4-FFF2-40B4-BE49-F238E27FC236}">
                <a16:creationId xmlns:a16="http://schemas.microsoft.com/office/drawing/2014/main" id="{7965133B-076D-4FAD-8D2A-C24FE2619C80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31850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6" name="Substituent text 2">
            <a:extLst>
              <a:ext uri="{FF2B5EF4-FFF2-40B4-BE49-F238E27FC236}">
                <a16:creationId xmlns:a16="http://schemas.microsoft.com/office/drawing/2014/main" id="{CABE6307-1A20-419D-A352-17FF0286600B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9426" y="3291840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7" name="Substituent imagine 3">
            <a:extLst>
              <a:ext uri="{FF2B5EF4-FFF2-40B4-BE49-F238E27FC236}">
                <a16:creationId xmlns:a16="http://schemas.microsoft.com/office/drawing/2014/main" id="{D2C5C227-18EE-4D6A-AA31-30B8F7CD20A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719417" y="3273552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6ABEA821-83E0-4C10-98A8-5F29E246F74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460807" y="3291840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CA1DC741-B44F-4275-A1D5-B8D26A3390B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549426" y="4427608"/>
            <a:ext cx="2670048" cy="64008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imagine 3">
            <a:extLst>
              <a:ext uri="{FF2B5EF4-FFF2-40B4-BE49-F238E27FC236}">
                <a16:creationId xmlns:a16="http://schemas.microsoft.com/office/drawing/2014/main" id="{C550F6C4-BE33-415F-B0BC-B47EDC1BDA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9417" y="4409320"/>
            <a:ext cx="640080" cy="65836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9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4C0830D2-D692-4161-8ECB-338703C9435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60807" y="4427608"/>
            <a:ext cx="1209357" cy="640080"/>
          </a:xfrm>
        </p:spPr>
        <p:txBody>
          <a:bodyPr lIns="0" tIns="0" rIns="0" bIns="0" rtlCol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stiluri de text</a:t>
            </a:r>
          </a:p>
        </p:txBody>
      </p:sp>
    </p:spTree>
    <p:extLst>
      <p:ext uri="{BB962C8B-B14F-4D97-AF65-F5344CB8AC3E}">
        <p14:creationId xmlns:p14="http://schemas.microsoft.com/office/powerpoint/2010/main" val="3311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monitor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091023"/>
            <a:ext cx="4464049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244567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Dreptunghi 7">
            <a:extLst>
              <a:ext uri="{FF2B5EF4-FFF2-40B4-BE49-F238E27FC236}">
                <a16:creationId xmlns:a16="http://schemas.microsoft.com/office/drawing/2014/main" id="{4ACF4ED1-C6C8-4C5C-8C14-4FF197588C03}"/>
              </a:ext>
            </a:extLst>
          </p:cNvPr>
          <p:cNvSpPr/>
          <p:nvPr userDrawn="1"/>
        </p:nvSpPr>
        <p:spPr>
          <a:xfrm>
            <a:off x="6192163" y="1435133"/>
            <a:ext cx="5175504" cy="4187952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1504" b="150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313811" cy="100800"/>
            <a:chOff x="0" y="3240138"/>
            <a:chExt cx="2313811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27703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21301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15720" y="3869349"/>
            <a:ext cx="4452987" cy="1328330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stituent imagine 9">
            <a:extLst>
              <a:ext uri="{FF2B5EF4-FFF2-40B4-BE49-F238E27FC236}">
                <a16:creationId xmlns:a16="http://schemas.microsoft.com/office/drawing/2014/main" id="{6B8B3AB3-C02D-418C-A9E2-AA65DE7835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62829" y="1673942"/>
            <a:ext cx="4853962" cy="314140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6988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titlu și sub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093DA11F-BC94-447C-B660-9C906BED01B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682496"/>
            <a:ext cx="12191999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3976" y="696584"/>
            <a:ext cx="4464049" cy="569086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84860" y="1983086"/>
            <a:ext cx="4443165" cy="569085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 8">
            <a:extLst>
              <a:ext uri="{FF2B5EF4-FFF2-40B4-BE49-F238E27FC236}">
                <a16:creationId xmlns:a16="http://schemas.microsoft.com/office/drawing/2014/main" id="{78842051-6173-4CC2-8C4A-8AE31FE7BA54}"/>
              </a:ext>
            </a:extLst>
          </p:cNvPr>
          <p:cNvGrpSpPr/>
          <p:nvPr userDrawn="1"/>
        </p:nvGrpSpPr>
        <p:grpSpPr>
          <a:xfrm>
            <a:off x="4886226" y="1373283"/>
            <a:ext cx="2423908" cy="100800"/>
            <a:chOff x="2929238" y="1373283"/>
            <a:chExt cx="2423908" cy="100800"/>
          </a:xfrm>
        </p:grpSpPr>
        <p:grpSp>
          <p:nvGrpSpPr>
            <p:cNvPr id="15" name="Grup 14">
              <a:extLst>
                <a:ext uri="{FF2B5EF4-FFF2-40B4-BE49-F238E27FC236}">
                  <a16:creationId xmlns:a16="http://schemas.microsoft.com/office/drawing/2014/main" id="{B7317392-EF87-4050-8BBE-32F74B0CF15A}"/>
                </a:ext>
              </a:extLst>
            </p:cNvPr>
            <p:cNvGrpSpPr/>
            <p:nvPr userDrawn="1"/>
          </p:nvGrpSpPr>
          <p:grpSpPr>
            <a:xfrm>
              <a:off x="2972372" y="1373283"/>
              <a:ext cx="2380774" cy="100800"/>
              <a:chOff x="-177106" y="3237441"/>
              <a:chExt cx="2380774" cy="100800"/>
            </a:xfrm>
          </p:grpSpPr>
          <p:cxnSp>
            <p:nvCxnSpPr>
              <p:cNvPr id="13" name="Conector drept 12">
                <a:extLst>
                  <a:ext uri="{FF2B5EF4-FFF2-40B4-BE49-F238E27FC236}">
                    <a16:creationId xmlns:a16="http://schemas.microsoft.com/office/drawing/2014/main" id="{785A4134-866D-4143-AC1E-8A2FFDB49855}"/>
                  </a:ext>
                </a:extLst>
              </p:cNvPr>
              <p:cNvCxnSpPr/>
              <p:nvPr userDrawn="1"/>
            </p:nvCxnSpPr>
            <p:spPr>
              <a:xfrm>
                <a:off x="-177106" y="3290538"/>
                <a:ext cx="2311699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BBC5D9C-B8FB-455B-9398-36DB21F2765E}"/>
                  </a:ext>
                </a:extLst>
              </p:cNvPr>
              <p:cNvSpPr/>
              <p:nvPr userDrawn="1"/>
            </p:nvSpPr>
            <p:spPr>
              <a:xfrm>
                <a:off x="2102868" y="3237441"/>
                <a:ext cx="100800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D1C3636-C306-4492-8D46-194288459CAF}"/>
                </a:ext>
              </a:extLst>
            </p:cNvPr>
            <p:cNvSpPr/>
            <p:nvPr userDrawn="1"/>
          </p:nvSpPr>
          <p:spPr>
            <a:xfrm>
              <a:off x="2929238" y="1373283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5028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rei conținut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294605" y="1375202"/>
            <a:ext cx="4897395" cy="100800"/>
            <a:chOff x="304632" y="3240138"/>
            <a:chExt cx="3057763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4632" y="3290538"/>
              <a:ext cx="301404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29667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226927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226927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6927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871314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5" name="Substituent text 15">
            <a:extLst>
              <a:ext uri="{FF2B5EF4-FFF2-40B4-BE49-F238E27FC236}">
                <a16:creationId xmlns:a16="http://schemas.microsoft.com/office/drawing/2014/main" id="{7A54608E-523B-47AC-B8A6-3E8FE9A158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314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871314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E0D32F26-CEE2-4420-A43D-B008AE2D1DD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15702" y="4271296"/>
            <a:ext cx="2944368" cy="141982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15">
            <a:extLst>
              <a:ext uri="{FF2B5EF4-FFF2-40B4-BE49-F238E27FC236}">
                <a16:creationId xmlns:a16="http://schemas.microsoft.com/office/drawing/2014/main" id="{DBC2890A-FFF7-4606-A262-6D464BA5D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5702" y="2760518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3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268E1254-8C59-4B9B-A775-45CA3D655514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515702" y="3858610"/>
            <a:ext cx="2944368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21" name="Conector drept 20">
            <a:extLst>
              <a:ext uri="{FF2B5EF4-FFF2-40B4-BE49-F238E27FC236}">
                <a16:creationId xmlns:a16="http://schemas.microsoft.com/office/drawing/2014/main" id="{8E47DC43-D8A0-4F17-B897-D8B07A6F1B47}"/>
              </a:ext>
            </a:extLst>
          </p:cNvPr>
          <p:cNvCxnSpPr/>
          <p:nvPr userDrawn="1"/>
        </p:nvCxnSpPr>
        <p:spPr>
          <a:xfrm>
            <a:off x="2205335" y="3256107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rept 28">
            <a:extLst>
              <a:ext uri="{FF2B5EF4-FFF2-40B4-BE49-F238E27FC236}">
                <a16:creationId xmlns:a16="http://schemas.microsoft.com/office/drawing/2014/main" id="{D201F265-08ED-497A-BE5C-62220829348F}"/>
              </a:ext>
            </a:extLst>
          </p:cNvPr>
          <p:cNvCxnSpPr/>
          <p:nvPr userDrawn="1"/>
        </p:nvCxnSpPr>
        <p:spPr>
          <a:xfrm>
            <a:off x="5849839" y="3255785"/>
            <a:ext cx="266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44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ție între nume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16" y="707529"/>
            <a:ext cx="7118056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92016" y="1625821"/>
            <a:ext cx="7096709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4314481" y="1375202"/>
            <a:ext cx="7877519" cy="100800"/>
            <a:chOff x="245550" y="3240138"/>
            <a:chExt cx="4015976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  <a:endCxn id="13" idx="6"/>
            </p:cNvCxnSpPr>
            <p:nvPr userDrawn="1"/>
          </p:nvCxnSpPr>
          <p:spPr>
            <a:xfrm>
              <a:off x="245550" y="3290538"/>
              <a:ext cx="401597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10138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3723" y="3301941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12.345 lei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716329" y="3394494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292016" y="3394494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6" name="Substituent text 15">
            <a:extLst>
              <a:ext uri="{FF2B5EF4-FFF2-40B4-BE49-F238E27FC236}">
                <a16:creationId xmlns:a16="http://schemas.microsoft.com/office/drawing/2014/main" id="{EA5D8D7D-F37C-49AD-98F0-641CE42B8A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723" y="4594663"/>
            <a:ext cx="3408243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l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6.789 lei</a:t>
            </a:r>
          </a:p>
        </p:txBody>
      </p:sp>
      <p:sp>
        <p:nvSpPr>
          <p:cNvPr id="27" name="Substituent text 2">
            <a:extLst>
              <a:ext uri="{FF2B5EF4-FFF2-40B4-BE49-F238E27FC236}">
                <a16:creationId xmlns:a16="http://schemas.microsoft.com/office/drawing/2014/main" id="{521FF93D-8384-4E22-8645-BDE6AB98348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716329" y="4687216"/>
            <a:ext cx="5678300" cy="978407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BA358F36-EA77-462E-9158-AFDF1D449A1A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292016" y="4687216"/>
            <a:ext cx="1399099" cy="978407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340411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cu cercu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3242645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4872948"/>
            <a:ext cx="4443165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4581382"/>
            <a:ext cx="3943482" cy="100800"/>
            <a:chOff x="-1228304" y="3240138"/>
            <a:chExt cx="3943482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927524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14378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6" name="Substituent text 2">
            <a:extLst>
              <a:ext uri="{FF2B5EF4-FFF2-40B4-BE49-F238E27FC236}">
                <a16:creationId xmlns:a16="http://schemas.microsoft.com/office/drawing/2014/main" id="{BB522941-5C7D-4701-9AD7-BB4C11C6EBC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33023" y="4551485"/>
            <a:ext cx="5855702" cy="1208079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DC059E4-36DE-4100-8F15-85A9F37E84FE}"/>
              </a:ext>
            </a:extLst>
          </p:cNvPr>
          <p:cNvSpPr/>
          <p:nvPr userDrawn="1"/>
        </p:nvSpPr>
        <p:spPr>
          <a:xfrm>
            <a:off x="3616960" y="859665"/>
            <a:ext cx="2121408" cy="212140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E475F8-9B44-4A3E-9F99-CF0346C89B8E}"/>
              </a:ext>
            </a:extLst>
          </p:cNvPr>
          <p:cNvSpPr/>
          <p:nvPr userDrawn="1"/>
        </p:nvSpPr>
        <p:spPr>
          <a:xfrm>
            <a:off x="5522965" y="836613"/>
            <a:ext cx="2816352" cy="28163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F5FAF95-28E9-4D03-884C-A89CBC8B61DC}"/>
              </a:ext>
            </a:extLst>
          </p:cNvPr>
          <p:cNvSpPr/>
          <p:nvPr userDrawn="1"/>
        </p:nvSpPr>
        <p:spPr>
          <a:xfrm>
            <a:off x="8123915" y="859665"/>
            <a:ext cx="3273552" cy="327355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7" name="Substituent text 15">
            <a:extLst>
              <a:ext uri="{FF2B5EF4-FFF2-40B4-BE49-F238E27FC236}">
                <a16:creationId xmlns:a16="http://schemas.microsoft.com/office/drawing/2014/main" id="{5F221D05-AC12-4B7C-A00B-E28F93E23D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51931" y="1382322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25 lei</a:t>
            </a:r>
          </a:p>
        </p:txBody>
      </p:sp>
      <p:sp>
        <p:nvSpPr>
          <p:cNvPr id="28" name="Substituent text 2">
            <a:extLst>
              <a:ext uri="{FF2B5EF4-FFF2-40B4-BE49-F238E27FC236}">
                <a16:creationId xmlns:a16="http://schemas.microsoft.com/office/drawing/2014/main" id="{A3904B01-A725-4CE3-9321-D42F3E2967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927524" y="2363691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D9CE08AF-782B-4514-BE33-D3AED71A734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06132" y="1185842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  <p:sp>
        <p:nvSpPr>
          <p:cNvPr id="30" name="Substituent text 15">
            <a:extLst>
              <a:ext uri="{FF2B5EF4-FFF2-40B4-BE49-F238E27FC236}">
                <a16:creationId xmlns:a16="http://schemas.microsoft.com/office/drawing/2014/main" id="{614098B4-704D-42A8-B776-2C93C30C39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13495" y="1767897"/>
            <a:ext cx="168109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50 lei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CE6465F4-0B4D-4B43-BE59-BC984FE8EF0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189088" y="2753338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32" name="Substituent text 2">
            <a:extLst>
              <a:ext uri="{FF2B5EF4-FFF2-40B4-BE49-F238E27FC236}">
                <a16:creationId xmlns:a16="http://schemas.microsoft.com/office/drawing/2014/main" id="{4DBC997E-F996-4F59-A610-3C8558F180C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67696" y="1537655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  <p:sp>
        <p:nvSpPr>
          <p:cNvPr id="33" name="Substituent text 15">
            <a:extLst>
              <a:ext uri="{FF2B5EF4-FFF2-40B4-BE49-F238E27FC236}">
                <a16:creationId xmlns:a16="http://schemas.microsoft.com/office/drawing/2014/main" id="{D2098E46-8023-469E-86ED-39848BCA69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714444" y="2049128"/>
            <a:ext cx="2010420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100 lei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93715D94-9DBE-476D-B2A4-208BC6D40C3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981735" y="3034569"/>
            <a:ext cx="1519848" cy="617093"/>
          </a:xfrm>
        </p:spPr>
        <p:txBody>
          <a:bodyPr lIns="0" tIns="0" rIns="0" bIns="0" rtlCol="0" anchor="t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Secțiunea 1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C6E1A50B-8AFF-497B-8AEC-C61D95DC068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89050" y="1818886"/>
            <a:ext cx="1519848" cy="250619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800" b="0">
                <a:solidFill>
                  <a:schemeClr val="tx1"/>
                </a:solidFill>
                <a:latin typeface="+mn-lt"/>
                <a:cs typeface="Segoe UI Ligh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MILIARDE</a:t>
            </a:r>
          </a:p>
        </p:txBody>
      </p:sp>
    </p:spTree>
    <p:extLst>
      <p:ext uri="{BB962C8B-B14F-4D97-AF65-F5344CB8AC3E}">
        <p14:creationId xmlns:p14="http://schemas.microsoft.com/office/powerpoint/2010/main" val="3942925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ă conținuturi cu subtitr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1625821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31851" y="3335524"/>
            <a:ext cx="4817836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text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8826" y="2905291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778086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iagram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105" y="707529"/>
            <a:ext cx="3704150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>
            <a:off x="-6" y="1375202"/>
            <a:ext cx="3590826" cy="100800"/>
            <a:chOff x="646012" y="3240138"/>
            <a:chExt cx="183060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2" y="3290538"/>
              <a:ext cx="1800358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425233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1" name="Substituent imagine 11" descr="Cadran cu siglele concurenței">
            <a:extLst>
              <a:ext uri="{FF2B5EF4-FFF2-40B4-BE49-F238E27FC236}">
                <a16:creationId xmlns:a16="http://schemas.microsoft.com/office/drawing/2014/main" id="{58A093A6-410B-4E4B-BA54-D31E8313D9B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3928670" y="2872719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2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2" name="Substituent imagine 11" descr="Cadran cu siglele concurenței">
            <a:extLst>
              <a:ext uri="{FF2B5EF4-FFF2-40B4-BE49-F238E27FC236}">
                <a16:creationId xmlns:a16="http://schemas.microsoft.com/office/drawing/2014/main" id="{C852F764-614E-4E0D-B231-E5EF9B5D3AFE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06105" y="2171148"/>
            <a:ext cx="1655064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1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5" name="Substituent imagine 11" descr="Cadran cu siglele concurenței">
            <a:extLst>
              <a:ext uri="{FF2B5EF4-FFF2-40B4-BE49-F238E27FC236}">
                <a16:creationId xmlns:a16="http://schemas.microsoft.com/office/drawing/2014/main" id="{0349F007-C349-4EF3-A61F-86C43BEB5478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729582" y="445626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3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6" name="Substituent imagine 11" descr="Cadran cu siglele concurenței">
            <a:extLst>
              <a:ext uri="{FF2B5EF4-FFF2-40B4-BE49-F238E27FC236}">
                <a16:creationId xmlns:a16="http://schemas.microsoft.com/office/drawing/2014/main" id="{FEA8BDDC-623F-4C67-AD04-E7801B53701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829546" y="2770168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4</a:t>
            </a:r>
          </a:p>
          <a:p>
            <a:pPr rtl="0"/>
            <a:r>
              <a:rPr lang="ro-RO" noProof="0" dirty="0" err="1"/>
              <a:t>Siglăя</a:t>
            </a:r>
            <a:endParaRPr lang="ro-RO" noProof="0" dirty="0"/>
          </a:p>
        </p:txBody>
      </p:sp>
      <p:sp>
        <p:nvSpPr>
          <p:cNvPr id="27" name="Substituent imagine 11" descr="Cadran cu siglele concurenței">
            <a:extLst>
              <a:ext uri="{FF2B5EF4-FFF2-40B4-BE49-F238E27FC236}">
                <a16:creationId xmlns:a16="http://schemas.microsoft.com/office/drawing/2014/main" id="{28B0D00B-97E7-4133-B35A-AC2EF334CD2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610067" y="458883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5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8" name="Substituent imagine 11" descr="Cadran cu siglele concurenței">
            <a:extLst>
              <a:ext uri="{FF2B5EF4-FFF2-40B4-BE49-F238E27FC236}">
                <a16:creationId xmlns:a16="http://schemas.microsoft.com/office/drawing/2014/main" id="{8D1A7417-EFAD-46F6-ADA5-117D4C7B1A9D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571158" y="4977452"/>
            <a:ext cx="1772153" cy="777240"/>
          </a:xfrm>
          <a:noFill/>
        </p:spPr>
        <p:txBody>
          <a:bodyPr rtlCol="0" anchor="ctr" anchorCtr="0">
            <a:noAutofit/>
          </a:bodyPr>
          <a:lstStyle>
            <a:lvl1pPr marL="0" indent="0" algn="ctr">
              <a:buNone/>
              <a:defRPr sz="2000" i="1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Concurent 6</a:t>
            </a:r>
          </a:p>
          <a:p>
            <a:pPr rtl="0"/>
            <a:r>
              <a:rPr lang="ro-RO" noProof="0" dirty="0"/>
              <a:t>Siglă</a:t>
            </a:r>
          </a:p>
        </p:txBody>
      </p:sp>
      <p:sp>
        <p:nvSpPr>
          <p:cNvPr id="29" name="Substituent text 7">
            <a:extLst>
              <a:ext uri="{FF2B5EF4-FFF2-40B4-BE49-F238E27FC236}">
                <a16:creationId xmlns:a16="http://schemas.microsoft.com/office/drawing/2014/main" id="{D4B80E14-BBC8-42CC-8777-FFF50D168A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89869" y="3642757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scump</a:t>
            </a:r>
          </a:p>
        </p:txBody>
      </p:sp>
      <p:sp>
        <p:nvSpPr>
          <p:cNvPr id="30" name="Substituent text 7">
            <a:extLst>
              <a:ext uri="{FF2B5EF4-FFF2-40B4-BE49-F238E27FC236}">
                <a16:creationId xmlns:a16="http://schemas.microsoft.com/office/drawing/2014/main" id="{95033551-3DD0-4EBE-8DFD-9335F8BA926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315481" y="5884080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puțin accesibil</a:t>
            </a:r>
          </a:p>
        </p:txBody>
      </p:sp>
      <p:sp>
        <p:nvSpPr>
          <p:cNvPr id="31" name="Substituent text 7">
            <a:extLst>
              <a:ext uri="{FF2B5EF4-FFF2-40B4-BE49-F238E27FC236}">
                <a16:creationId xmlns:a16="http://schemas.microsoft.com/office/drawing/2014/main" id="{CC507E62-D7F3-4E81-8DE2-5A7084588A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5481" y="1343118"/>
            <a:ext cx="2741612" cy="248888"/>
          </a:xfrm>
        </p:spPr>
        <p:txBody>
          <a:bodyPr wrap="square" lIns="0" tIns="0" rIns="0" bIns="0" rtlCol="0">
            <a:noAutofit/>
          </a:bodyPr>
          <a:lstStyle>
            <a:lvl1pPr marL="0" indent="0" algn="l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accesibil</a:t>
            </a:r>
          </a:p>
        </p:txBody>
      </p:sp>
      <p:sp>
        <p:nvSpPr>
          <p:cNvPr id="32" name="Substituent imagine 13">
            <a:extLst>
              <a:ext uri="{FF2B5EF4-FFF2-40B4-BE49-F238E27FC236}">
                <a16:creationId xmlns:a16="http://schemas.microsoft.com/office/drawing/2014/main" id="{61EF622D-8E08-41C3-BEBA-2274C2AB487A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9417999" y="1977257"/>
            <a:ext cx="1481328" cy="758952"/>
          </a:xfrm>
          <a:noFill/>
          <a:ln>
            <a:noFill/>
          </a:ln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3" name="Substituent text 7">
            <a:extLst>
              <a:ext uri="{FF2B5EF4-FFF2-40B4-BE49-F238E27FC236}">
                <a16:creationId xmlns:a16="http://schemas.microsoft.com/office/drawing/2014/main" id="{690ADA54-0156-49A9-AEF7-A4972EEB15A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651686" y="3642757"/>
            <a:ext cx="2741612" cy="248888"/>
          </a:xfrm>
        </p:spPr>
        <p:txBody>
          <a:bodyPr lIns="0" tIns="0" rIns="0" bIns="0" rtlCol="0">
            <a:noAutofit/>
          </a:bodyPr>
          <a:lstStyle>
            <a:lvl1pPr marL="0" indent="0" algn="r">
              <a:buNone/>
              <a:defRPr sz="2000" b="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1200" b="1"/>
            </a:lvl2pPr>
            <a:lvl3pPr>
              <a:defRPr sz="1200" b="1"/>
            </a:lvl3pPr>
            <a:lvl4pPr>
              <a:defRPr sz="1200" b="1"/>
            </a:lvl4pPr>
            <a:lvl5pPr>
              <a:defRPr sz="1200" b="1"/>
            </a:lvl5pPr>
          </a:lstStyle>
          <a:p>
            <a:pPr lvl="0" rtl="0"/>
            <a:r>
              <a:rPr lang="ro-RO" noProof="0" dirty="0"/>
              <a:t>Mai ieftin</a:t>
            </a: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32193FB7-0142-40DD-9186-F3156B0AE4B0}"/>
              </a:ext>
            </a:extLst>
          </p:cNvPr>
          <p:cNvGrpSpPr/>
          <p:nvPr userDrawn="1"/>
        </p:nvGrpSpPr>
        <p:grpSpPr>
          <a:xfrm>
            <a:off x="6045600" y="1376748"/>
            <a:ext cx="100800" cy="5481252"/>
            <a:chOff x="6045600" y="1376748"/>
            <a:chExt cx="100800" cy="5481252"/>
          </a:xfrm>
        </p:grpSpPr>
        <p:cxnSp>
          <p:nvCxnSpPr>
            <p:cNvPr id="3" name="Conector drept 2">
              <a:extLst>
                <a:ext uri="{FF2B5EF4-FFF2-40B4-BE49-F238E27FC236}">
                  <a16:creationId xmlns:a16="http://schemas.microsoft.com/office/drawing/2014/main" id="{CD1389D4-2EB7-40E2-B21B-4EE70FCA2236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3389377" y="4151376"/>
              <a:ext cx="541324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48E795-AD00-4819-94E4-A5211D331715}"/>
                </a:ext>
              </a:extLst>
            </p:cNvPr>
            <p:cNvSpPr/>
            <p:nvPr userDrawn="1"/>
          </p:nvSpPr>
          <p:spPr>
            <a:xfrm>
              <a:off x="6045600" y="137674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37" name="Grup 36">
            <a:extLst>
              <a:ext uri="{FF2B5EF4-FFF2-40B4-BE49-F238E27FC236}">
                <a16:creationId xmlns:a16="http://schemas.microsoft.com/office/drawing/2014/main" id="{41BD97BD-35F4-4534-8B74-24D44A99BC58}"/>
              </a:ext>
            </a:extLst>
          </p:cNvPr>
          <p:cNvGrpSpPr/>
          <p:nvPr userDrawn="1"/>
        </p:nvGrpSpPr>
        <p:grpSpPr>
          <a:xfrm rot="5400000">
            <a:off x="5669857" y="-1673474"/>
            <a:ext cx="100800" cy="11440514"/>
            <a:chOff x="6045600" y="1329588"/>
            <a:chExt cx="100800" cy="11440514"/>
          </a:xfrm>
        </p:grpSpPr>
        <p:cxnSp>
          <p:nvCxnSpPr>
            <p:cNvPr id="38" name="Conector drept 37">
              <a:extLst>
                <a:ext uri="{FF2B5EF4-FFF2-40B4-BE49-F238E27FC236}">
                  <a16:creationId xmlns:a16="http://schemas.microsoft.com/office/drawing/2014/main" id="{D8351F13-467F-49F8-8279-C5B29A51798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08032" y="7082102"/>
              <a:ext cx="1137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9AA12FA-7959-4581-B344-DF9E7B0AD37A}"/>
                </a:ext>
              </a:extLst>
            </p:cNvPr>
            <p:cNvSpPr/>
            <p:nvPr userDrawn="1"/>
          </p:nvSpPr>
          <p:spPr>
            <a:xfrm>
              <a:off x="6045600" y="1329588"/>
              <a:ext cx="100800" cy="1008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9558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cu trei secțiu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512271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148315"/>
            <a:ext cx="2216876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97696"/>
            <a:ext cx="3455460" cy="100800"/>
            <a:chOff x="0" y="3240138"/>
            <a:chExt cx="3455460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3412326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3354660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ubstituent text 15">
            <a:extLst>
              <a:ext uri="{FF2B5EF4-FFF2-40B4-BE49-F238E27FC236}">
                <a16:creationId xmlns:a16="http://schemas.microsoft.com/office/drawing/2014/main" id="{DA80730C-5AC9-41A0-ACC5-624F0652D68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5261" y="2631676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72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22" name="Substituent text 15">
            <a:extLst>
              <a:ext uri="{FF2B5EF4-FFF2-40B4-BE49-F238E27FC236}">
                <a16:creationId xmlns:a16="http://schemas.microsoft.com/office/drawing/2014/main" id="{515B23A8-23EB-4E6E-A24C-4154570D7DC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36251" y="2015540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</a:t>
            </a:r>
          </a:p>
        </p:txBody>
      </p:sp>
      <p:sp>
        <p:nvSpPr>
          <p:cNvPr id="23" name="Substituent text 15">
            <a:extLst>
              <a:ext uri="{FF2B5EF4-FFF2-40B4-BE49-F238E27FC236}">
                <a16:creationId xmlns:a16="http://schemas.microsoft.com/office/drawing/2014/main" id="{C12919ED-FD55-4081-BB4A-2B2FDA3BED1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97240" y="1239687"/>
            <a:ext cx="978408" cy="978408"/>
          </a:xfrm>
          <a:prstGeom prst="ellipse">
            <a:avLst/>
          </a:prstGeom>
          <a:ln w="6350">
            <a:solidFill>
              <a:schemeClr val="tx1"/>
            </a:solidFill>
          </a:ln>
        </p:spPr>
        <p:txBody>
          <a:bodyPr lIns="0" tIns="3600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3</a:t>
            </a:r>
          </a:p>
        </p:txBody>
      </p:sp>
      <p:cxnSp>
        <p:nvCxnSpPr>
          <p:cNvPr id="24" name="Conector drept 23">
            <a:extLst>
              <a:ext uri="{FF2B5EF4-FFF2-40B4-BE49-F238E27FC236}">
                <a16:creationId xmlns:a16="http://schemas.microsoft.com/office/drawing/2014/main" id="{56A6259C-432B-4405-9E82-995AF092FB7A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4068065" y="1728891"/>
            <a:ext cx="1792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rept 24">
            <a:extLst>
              <a:ext uri="{FF2B5EF4-FFF2-40B4-BE49-F238E27FC236}">
                <a16:creationId xmlns:a16="http://schemas.microsoft.com/office/drawing/2014/main" id="{13BC485E-8BCE-479F-A7E9-7F9E193E6E96}"/>
              </a:ext>
            </a:extLst>
          </p:cNvPr>
          <p:cNvCxnSpPr>
            <a:cxnSpLocks/>
          </p:cNvCxnSpPr>
          <p:nvPr userDrawn="1"/>
        </p:nvCxnSpPr>
        <p:spPr>
          <a:xfrm>
            <a:off x="4964465" y="836613"/>
            <a:ext cx="5925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rept 25">
            <a:extLst>
              <a:ext uri="{FF2B5EF4-FFF2-40B4-BE49-F238E27FC236}">
                <a16:creationId xmlns:a16="http://schemas.microsoft.com/office/drawing/2014/main" id="{D5094BC6-BA16-4E05-868C-3AE971AF3DA4}"/>
              </a:ext>
            </a:extLst>
          </p:cNvPr>
          <p:cNvCxnSpPr>
            <a:cxnSpLocks/>
          </p:cNvCxnSpPr>
          <p:nvPr userDrawn="1"/>
        </p:nvCxnSpPr>
        <p:spPr>
          <a:xfrm rot="16200000" flipV="1">
            <a:off x="10688444" y="1030491"/>
            <a:ext cx="3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rept 26">
            <a:extLst>
              <a:ext uri="{FF2B5EF4-FFF2-40B4-BE49-F238E27FC236}">
                <a16:creationId xmlns:a16="http://schemas.microsoft.com/office/drawing/2014/main" id="{F9130EC6-4A8D-447F-862E-E5A693E68C8C}"/>
              </a:ext>
            </a:extLst>
          </p:cNvPr>
          <p:cNvCxnSpPr>
            <a:cxnSpLocks/>
          </p:cNvCxnSpPr>
          <p:nvPr userDrawn="1"/>
        </p:nvCxnSpPr>
        <p:spPr>
          <a:xfrm flipV="1">
            <a:off x="7925455" y="837355"/>
            <a:ext cx="0" cy="1178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151266" y="4543170"/>
            <a:ext cx="2589369" cy="1280958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text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151265" y="4246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3151265" y="3883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3" name="Substituent text 2">
            <a:extLst>
              <a:ext uri="{FF2B5EF4-FFF2-40B4-BE49-F238E27FC236}">
                <a16:creationId xmlns:a16="http://schemas.microsoft.com/office/drawing/2014/main" id="{EFE2A8C5-F462-436C-B748-BBE5D58CB8B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48861" y="3849559"/>
            <a:ext cx="2589369" cy="178695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4" name="Substituent text 2">
            <a:extLst>
              <a:ext uri="{FF2B5EF4-FFF2-40B4-BE49-F238E27FC236}">
                <a16:creationId xmlns:a16="http://schemas.microsoft.com/office/drawing/2014/main" id="{586DAC0D-9859-40A1-8456-F0B43D96718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048860" y="355285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37B983EE-F89D-4F09-8A9F-2347FA36421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048860" y="319029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6" name="Substituent text 2">
            <a:extLst>
              <a:ext uri="{FF2B5EF4-FFF2-40B4-BE49-F238E27FC236}">
                <a16:creationId xmlns:a16="http://schemas.microsoft.com/office/drawing/2014/main" id="{D30DD128-A937-4A2F-B070-523A5BAAE260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975159" y="3147170"/>
            <a:ext cx="2589369" cy="2311934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7" name="Substituent text 2">
            <a:extLst>
              <a:ext uri="{FF2B5EF4-FFF2-40B4-BE49-F238E27FC236}">
                <a16:creationId xmlns:a16="http://schemas.microsoft.com/office/drawing/2014/main" id="{5737B87C-E3C0-46B2-8B79-63EB6049150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975158" y="2850467"/>
            <a:ext cx="2415199" cy="236141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22F76863-7DCD-4365-80F0-001D51F08779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8975158" y="2487902"/>
            <a:ext cx="2415199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 algn="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</p:spTree>
    <p:extLst>
      <p:ext uri="{BB962C8B-B14F-4D97-AF65-F5344CB8AC3E}">
        <p14:creationId xmlns:p14="http://schemas.microsoft.com/office/powerpoint/2010/main" val="3078273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e conținut tabel și diagram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707529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383372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3185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24" name="Substituent text 2">
            <a:extLst>
              <a:ext uri="{FF2B5EF4-FFF2-40B4-BE49-F238E27FC236}">
                <a16:creationId xmlns:a16="http://schemas.microsoft.com/office/drawing/2014/main" id="{FB2A0B34-417C-46AC-95C0-9B2A2FCC8BF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6000" y="2031832"/>
            <a:ext cx="2915732" cy="360000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D36F8EF-728B-45C1-87D8-4AD8FA8F3716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03275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22" name="Substituent conținut 2">
            <a:extLst>
              <a:ext uri="{FF2B5EF4-FFF2-40B4-BE49-F238E27FC236}">
                <a16:creationId xmlns:a16="http://schemas.microsoft.com/office/drawing/2014/main" id="{7395C5B4-6B03-4F70-96F8-3AE3A7817B5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096000" y="2524125"/>
            <a:ext cx="4970463" cy="2935288"/>
          </a:xfrm>
        </p:spPr>
        <p:txBody>
          <a:bodyPr rtlCol="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7891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cronolog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6466" y="707529"/>
            <a:ext cx="2673606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 dirty="0"/>
              <a:t>CRONOLOGIE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147803" y="1625821"/>
            <a:ext cx="2262267" cy="2021536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097797" y="1375202"/>
            <a:ext cx="3094215" cy="100800"/>
            <a:chOff x="2729179" y="3240138"/>
            <a:chExt cx="157742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729179" y="3290538"/>
              <a:ext cx="155193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4255220" y="324013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16" name="Substituent text 15">
            <a:extLst>
              <a:ext uri="{FF2B5EF4-FFF2-40B4-BE49-F238E27FC236}">
                <a16:creationId xmlns:a16="http://schemas.microsoft.com/office/drawing/2014/main" id="{D0092E26-7A96-4712-98A7-FFDA7C3D772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18284" y="685667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34" name="Substituent text 2">
            <a:extLst>
              <a:ext uri="{FF2B5EF4-FFF2-40B4-BE49-F238E27FC236}">
                <a16:creationId xmlns:a16="http://schemas.microsoft.com/office/drawing/2014/main" id="{B17B484C-F876-40B2-89DE-FC7A9E54C835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30241" y="1079309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9E02476-A734-4A74-BC42-F104B37C8C1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930241" y="786637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4" name="Conector drept 13">
            <a:extLst>
              <a:ext uri="{FF2B5EF4-FFF2-40B4-BE49-F238E27FC236}">
                <a16:creationId xmlns:a16="http://schemas.microsoft.com/office/drawing/2014/main" id="{1AD3A3AB-488E-4090-9FD5-E005D5A9ECF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2094269" y="3429000"/>
            <a:ext cx="685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D6729DC-C5B3-485B-B5CD-F06FC3CAFD9A}"/>
              </a:ext>
            </a:extLst>
          </p:cNvPr>
          <p:cNvSpPr/>
          <p:nvPr userDrawn="1"/>
        </p:nvSpPr>
        <p:spPr>
          <a:xfrm>
            <a:off x="5372392" y="959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4046DD7-8FB2-43D4-8E94-3D35DC3E2891}"/>
              </a:ext>
            </a:extLst>
          </p:cNvPr>
          <p:cNvSpPr/>
          <p:nvPr userDrawn="1"/>
        </p:nvSpPr>
        <p:spPr>
          <a:xfrm>
            <a:off x="5372392" y="5362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20A73A-D3CB-4E04-B7E2-F3696B8ACDEA}"/>
              </a:ext>
            </a:extLst>
          </p:cNvPr>
          <p:cNvSpPr/>
          <p:nvPr userDrawn="1"/>
        </p:nvSpPr>
        <p:spPr>
          <a:xfrm>
            <a:off x="5372392" y="24273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2B01F0-78A8-41AE-95B8-811603402031}"/>
              </a:ext>
            </a:extLst>
          </p:cNvPr>
          <p:cNvSpPr/>
          <p:nvPr userDrawn="1"/>
        </p:nvSpPr>
        <p:spPr>
          <a:xfrm>
            <a:off x="5372392" y="3894827"/>
            <a:ext cx="301752" cy="301752"/>
          </a:xfrm>
          <a:prstGeom prst="ellipse">
            <a:avLst/>
          </a:prstGeom>
          <a:solidFill>
            <a:srgbClr val="0F17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2" name="Substituent text 2">
            <a:extLst>
              <a:ext uri="{FF2B5EF4-FFF2-40B4-BE49-F238E27FC236}">
                <a16:creationId xmlns:a16="http://schemas.microsoft.com/office/drawing/2014/main" id="{A70E382B-B932-45B7-BD95-6D722A4A248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930241" y="2532448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3" name="Substituent text 2">
            <a:extLst>
              <a:ext uri="{FF2B5EF4-FFF2-40B4-BE49-F238E27FC236}">
                <a16:creationId xmlns:a16="http://schemas.microsoft.com/office/drawing/2014/main" id="{2F096B52-06C2-46DF-BB33-70D931283F16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930241" y="2239776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5D87FD43-95C9-4217-AD5F-FE02E28AD4C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30241" y="398558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A6706CEB-523E-4248-9A66-5D139D8B0DE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930241" y="369291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6ADC931C-F9B2-467E-A024-CB5BE74BAD8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930241" y="5438727"/>
            <a:ext cx="2810591" cy="758864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0A301DE6-2E75-41F5-9314-B269815BA3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30241" y="5146055"/>
            <a:ext cx="2810591" cy="292671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0" name="Substituent text 15">
            <a:extLst>
              <a:ext uri="{FF2B5EF4-FFF2-40B4-BE49-F238E27FC236}">
                <a16:creationId xmlns:a16="http://schemas.microsoft.com/office/drawing/2014/main" id="{B9154606-4DE0-4DC7-830A-371423BE42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8284" y="2153566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41" name="Substituent text 15">
            <a:extLst>
              <a:ext uri="{FF2B5EF4-FFF2-40B4-BE49-F238E27FC236}">
                <a16:creationId xmlns:a16="http://schemas.microsoft.com/office/drawing/2014/main" id="{5AC8C127-0F88-413C-B7BA-2ED0F81E7D4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8284" y="3621465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  <p:sp>
        <p:nvSpPr>
          <p:cNvPr id="42" name="Substituent text 15">
            <a:extLst>
              <a:ext uri="{FF2B5EF4-FFF2-40B4-BE49-F238E27FC236}">
                <a16:creationId xmlns:a16="http://schemas.microsoft.com/office/drawing/2014/main" id="{63C5707A-6E08-4B58-A5FE-40063DB6548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18284" y="5089363"/>
            <a:ext cx="2616212" cy="978408"/>
          </a:xfrm>
          <a:prstGeom prst="rect">
            <a:avLst/>
          </a:prstGeom>
          <a:ln w="6350">
            <a:noFill/>
          </a:ln>
        </p:spPr>
        <p:txBody>
          <a:bodyPr lIns="0" tIns="0" rIns="0" bIns="0" rtlCol="0" anchor="ctr" anchorCtr="0">
            <a:noAutofit/>
          </a:bodyPr>
          <a:lstStyle>
            <a:lvl1pPr marL="0" indent="0" algn="ctr">
              <a:buNone/>
              <a:defRPr sz="7000" b="1">
                <a:ln w="6350"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627535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2260000"/>
            <a:ext cx="391159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890303"/>
            <a:ext cx="3275463" cy="882062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598737"/>
            <a:ext cx="3352378" cy="100800"/>
            <a:chOff x="-1228304" y="3240138"/>
            <a:chExt cx="3352378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31694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023274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stituent tabel 9">
            <a:extLst>
              <a:ext uri="{FF2B5EF4-FFF2-40B4-BE49-F238E27FC236}">
                <a16:creationId xmlns:a16="http://schemas.microsoft.com/office/drawing/2014/main" id="{3F646CE6-E75B-4112-896D-5A26E1F1520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518150" y="860425"/>
            <a:ext cx="5870575" cy="4867275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o-RO" noProof="0"/>
              <a:t>Faceți clic pe pictogramă pentru a adăuga un tabel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1839232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de echip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7" y="1608523"/>
            <a:ext cx="2828198" cy="12868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1" y="3244567"/>
            <a:ext cx="2828198" cy="2098138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993948"/>
            <a:ext cx="2705796" cy="100800"/>
            <a:chOff x="0" y="3240138"/>
            <a:chExt cx="2705796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/>
            <p:nvPr userDrawn="1"/>
          </p:nvCxnSpPr>
          <p:spPr>
            <a:xfrm>
              <a:off x="0" y="3290538"/>
              <a:ext cx="2677297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604996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stituent text 2">
            <a:extLst>
              <a:ext uri="{FF2B5EF4-FFF2-40B4-BE49-F238E27FC236}">
                <a16:creationId xmlns:a16="http://schemas.microsoft.com/office/drawing/2014/main" id="{1B29C9C1-9494-4E8B-A0F3-611E947A19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128617" y="4355032"/>
            <a:ext cx="2066544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0" name="Substituent text 2">
            <a:extLst>
              <a:ext uri="{FF2B5EF4-FFF2-40B4-BE49-F238E27FC236}">
                <a16:creationId xmlns:a16="http://schemas.microsoft.com/office/drawing/2014/main" id="{ABB09D16-148A-45C2-B0B8-1495E8DC7D6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8616" y="4042831"/>
            <a:ext cx="2066544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1" name="Substituent text 2">
            <a:extLst>
              <a:ext uri="{FF2B5EF4-FFF2-40B4-BE49-F238E27FC236}">
                <a16:creationId xmlns:a16="http://schemas.microsoft.com/office/drawing/2014/main" id="{67814C7C-3597-4B16-A4AC-D81985C587B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4128616" y="3428999"/>
            <a:ext cx="2066544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9" name="Substituent imagine 8">
            <a:extLst>
              <a:ext uri="{FF2B5EF4-FFF2-40B4-BE49-F238E27FC236}">
                <a16:creationId xmlns:a16="http://schemas.microsoft.com/office/drawing/2014/main" id="{B284A57B-147A-4287-AA6B-E508A9222F7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30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5" name="Substituent imagine 8">
            <a:extLst>
              <a:ext uri="{FF2B5EF4-FFF2-40B4-BE49-F238E27FC236}">
                <a16:creationId xmlns:a16="http://schemas.microsoft.com/office/drawing/2014/main" id="{9DBE0996-CEA3-41C3-A75A-84DC3C2B51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8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6" name="Substituent imagine 8">
            <a:extLst>
              <a:ext uri="{FF2B5EF4-FFF2-40B4-BE49-F238E27FC236}">
                <a16:creationId xmlns:a16="http://schemas.microsoft.com/office/drawing/2014/main" id="{F7B28261-CB14-4E4E-AA66-A0239B3DD28E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629072" y="1179843"/>
            <a:ext cx="2066544" cy="2066544"/>
          </a:xfrm>
          <a:prstGeom prst="ellipse">
            <a:avLst/>
          </a:prstGeom>
          <a:ln w="127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BAA53E0C-9536-4177-A63F-0E2565EC53C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127048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67EF8E36-183B-420B-AF25-17CFA963987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127047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58DA6E86-8039-4690-AFE1-7CCF07B7CBA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127047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933214B9-0452-4C8B-AB10-922F3C3BCF01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629217" y="4355032"/>
            <a:ext cx="2066400" cy="128095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2" name="Substituent text 2">
            <a:extLst>
              <a:ext uri="{FF2B5EF4-FFF2-40B4-BE49-F238E27FC236}">
                <a16:creationId xmlns:a16="http://schemas.microsoft.com/office/drawing/2014/main" id="{A5C23113-D98B-48C7-A675-4FD5F50333F3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629216" y="4042831"/>
            <a:ext cx="2066400" cy="282991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9" name="Substituent text 2">
            <a:extLst>
              <a:ext uri="{FF2B5EF4-FFF2-40B4-BE49-F238E27FC236}">
                <a16:creationId xmlns:a16="http://schemas.microsoft.com/office/drawing/2014/main" id="{09781257-B563-41E0-B9E6-9C7330084BCC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627903" y="3428999"/>
            <a:ext cx="2066400" cy="615618"/>
          </a:xfrm>
        </p:spPr>
        <p:txBody>
          <a:bodyPr lIns="0" tIns="0" rIns="0" bIns="0" rtlCol="0" anchor="b" anchorCtr="0">
            <a:normAutofit/>
          </a:bodyPr>
          <a:lstStyle>
            <a:lvl1pPr marL="0" indent="0" algn="ctr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cxnSp>
        <p:nvCxnSpPr>
          <p:cNvPr id="32" name="Conector drept 31">
            <a:extLst>
              <a:ext uri="{FF2B5EF4-FFF2-40B4-BE49-F238E27FC236}">
                <a16:creationId xmlns:a16="http://schemas.microsoft.com/office/drawing/2014/main" id="{9A32EC27-ACD8-47C0-A3ED-E4ED58D88358}"/>
              </a:ext>
            </a:extLst>
          </p:cNvPr>
          <p:cNvCxnSpPr/>
          <p:nvPr userDrawn="1"/>
        </p:nvCxnSpPr>
        <p:spPr>
          <a:xfrm>
            <a:off x="6195160" y="2217849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rept 32">
            <a:extLst>
              <a:ext uri="{FF2B5EF4-FFF2-40B4-BE49-F238E27FC236}">
                <a16:creationId xmlns:a16="http://schemas.microsoft.com/office/drawing/2014/main" id="{99E8819A-135C-4A5C-9F6A-A3BE05AA294F}"/>
              </a:ext>
            </a:extLst>
          </p:cNvPr>
          <p:cNvCxnSpPr/>
          <p:nvPr userDrawn="1"/>
        </p:nvCxnSpPr>
        <p:spPr>
          <a:xfrm>
            <a:off x="8703909" y="2216687"/>
            <a:ext cx="43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329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aspect conținut de echip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04263" y="1625821"/>
            <a:ext cx="6289862" cy="569085"/>
          </a:xfrm>
        </p:spPr>
        <p:txBody>
          <a:bodyPr lIns="0" tIns="0" rIns="0" bIns="0" rtlCol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7950838" y="1375202"/>
            <a:ext cx="4241162" cy="100800"/>
            <a:chOff x="439494" y="3240138"/>
            <a:chExt cx="2648035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494" y="3290538"/>
              <a:ext cx="2615905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021805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58968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text 2">
            <a:extLst>
              <a:ext uri="{FF2B5EF4-FFF2-40B4-BE49-F238E27FC236}">
                <a16:creationId xmlns:a16="http://schemas.microsoft.com/office/drawing/2014/main" id="{F2ACDD32-C1AB-4359-B055-2F910492987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958968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F6FF07C5-314A-4EA8-B78F-7A51C234D3A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721841" y="2764036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23" name="Conector drept 22">
            <a:extLst>
              <a:ext uri="{FF2B5EF4-FFF2-40B4-BE49-F238E27FC236}">
                <a16:creationId xmlns:a16="http://schemas.microsoft.com/office/drawing/2014/main" id="{B691060D-E361-43B0-BFD7-43D7CC4E5CCD}"/>
              </a:ext>
            </a:extLst>
          </p:cNvPr>
          <p:cNvCxnSpPr>
            <a:cxnSpLocks/>
          </p:cNvCxnSpPr>
          <p:nvPr userDrawn="1"/>
        </p:nvCxnSpPr>
        <p:spPr>
          <a:xfrm>
            <a:off x="0" y="3288596"/>
            <a:ext cx="72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957127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957127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2" name="Substituent imagin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0000" y="4191893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43" name="Conector drept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111670" y="4028309"/>
            <a:ext cx="32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ubstituent text 2">
            <a:extLst>
              <a:ext uri="{FF2B5EF4-FFF2-40B4-BE49-F238E27FC236}">
                <a16:creationId xmlns:a16="http://schemas.microsoft.com/office/drawing/2014/main" id="{BACF15AB-FF8A-422B-840D-88503024E5D3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708709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EFC2028F-7DFE-412D-97DF-707D128D95E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708709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47" name="Substituent text 2">
            <a:extLst>
              <a:ext uri="{FF2B5EF4-FFF2-40B4-BE49-F238E27FC236}">
                <a16:creationId xmlns:a16="http://schemas.microsoft.com/office/drawing/2014/main" id="{4349A4F0-1181-4A58-BFD4-4783CD130356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704578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DC1D5D83-8D32-491F-87EB-9DA9360D4F2B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5704578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50" name="Substituent text 2">
            <a:extLst>
              <a:ext uri="{FF2B5EF4-FFF2-40B4-BE49-F238E27FC236}">
                <a16:creationId xmlns:a16="http://schemas.microsoft.com/office/drawing/2014/main" id="{8120723F-A42C-4B81-97FD-6F575E5C258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453870" y="3372939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51" name="Substituent text 2">
            <a:extLst>
              <a:ext uri="{FF2B5EF4-FFF2-40B4-BE49-F238E27FC236}">
                <a16:creationId xmlns:a16="http://schemas.microsoft.com/office/drawing/2014/main" id="{27D068F1-398F-4D11-977C-080C8151C78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453870" y="2960253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sp>
        <p:nvSpPr>
          <p:cNvPr id="53" name="Substituent text 2">
            <a:extLst>
              <a:ext uri="{FF2B5EF4-FFF2-40B4-BE49-F238E27FC236}">
                <a16:creationId xmlns:a16="http://schemas.microsoft.com/office/drawing/2014/main" id="{B795705E-C5CB-46CC-9E41-D2269E07BC15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452029" y="4800796"/>
            <a:ext cx="2297722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54" name="Substituent text 2">
            <a:extLst>
              <a:ext uri="{FF2B5EF4-FFF2-40B4-BE49-F238E27FC236}">
                <a16:creationId xmlns:a16="http://schemas.microsoft.com/office/drawing/2014/main" id="{80211A2B-0F3C-4DBE-AE01-069AE7FC3468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9452029" y="4388110"/>
            <a:ext cx="2297722" cy="328343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textul coordonator</a:t>
            </a:r>
          </a:p>
        </p:txBody>
      </p:sp>
      <p:cxnSp>
        <p:nvCxnSpPr>
          <p:cNvPr id="56" name="Conector drept 55">
            <a:extLst>
              <a:ext uri="{FF2B5EF4-FFF2-40B4-BE49-F238E27FC236}">
                <a16:creationId xmlns:a16="http://schemas.microsoft.com/office/drawing/2014/main" id="{2E5E9742-C670-47AB-AA69-AE65D7915B06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31847" y="5364000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rept 56">
            <a:extLst>
              <a:ext uri="{FF2B5EF4-FFF2-40B4-BE49-F238E27FC236}">
                <a16:creationId xmlns:a16="http://schemas.microsoft.com/office/drawing/2014/main" id="{158712DB-5183-45D8-9ABB-6E0795658012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7274194" y="5363999"/>
            <a:ext cx="2988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ubstituent imagine 2">
            <a:extLst>
              <a:ext uri="{FF2B5EF4-FFF2-40B4-BE49-F238E27FC236}">
                <a16:creationId xmlns:a16="http://schemas.microsoft.com/office/drawing/2014/main" id="{417A32F4-3459-4A31-A90E-AA771FD4D491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67451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5" name="Substituent imagine 2">
            <a:extLst>
              <a:ext uri="{FF2B5EF4-FFF2-40B4-BE49-F238E27FC236}">
                <a16:creationId xmlns:a16="http://schemas.microsoft.com/office/drawing/2014/main" id="{63549FA7-92E5-4DB1-92FA-15902DFD375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4902" y="4191893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46" name="Substituent imagine 2">
            <a:extLst>
              <a:ext uri="{FF2B5EF4-FFF2-40B4-BE49-F238E27FC236}">
                <a16:creationId xmlns:a16="http://schemas.microsoft.com/office/drawing/2014/main" id="{0F62D330-6A30-4A65-89DA-EDFE4AAD343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469292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2" name="Substituent imagine 2">
            <a:extLst>
              <a:ext uri="{FF2B5EF4-FFF2-40B4-BE49-F238E27FC236}">
                <a16:creationId xmlns:a16="http://schemas.microsoft.com/office/drawing/2014/main" id="{A3FC286B-05E7-4E48-A7FD-19780034911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16743" y="2764036"/>
            <a:ext cx="1106424" cy="1106423"/>
          </a:xfrm>
          <a:prstGeom prst="ellipse">
            <a:avLst/>
          </a:prstGeom>
          <a:solidFill>
            <a:srgbClr val="0F1722"/>
          </a:solidFill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74431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diagramă cu structură radial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461974"/>
            <a:ext cx="4464049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092276"/>
            <a:ext cx="4443165" cy="1008841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2811097"/>
            <a:ext cx="3149152" cy="100800"/>
            <a:chOff x="-1228304" y="3250524"/>
            <a:chExt cx="3149152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096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1820048" y="3250524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ubstituent text 2">
            <a:extLst>
              <a:ext uri="{FF2B5EF4-FFF2-40B4-BE49-F238E27FC236}">
                <a16:creationId xmlns:a16="http://schemas.microsoft.com/office/drawing/2014/main" id="{9A5180A6-7D2B-4341-A749-16387D907EEF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1262770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37" name="Substituent text 2">
            <a:extLst>
              <a:ext uri="{FF2B5EF4-FFF2-40B4-BE49-F238E27FC236}">
                <a16:creationId xmlns:a16="http://schemas.microsoft.com/office/drawing/2014/main" id="{79DFBEE7-50AA-4F4F-8B5D-AD23ECAD991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262769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39" name="Substituent text 2">
            <a:extLst>
              <a:ext uri="{FF2B5EF4-FFF2-40B4-BE49-F238E27FC236}">
                <a16:creationId xmlns:a16="http://schemas.microsoft.com/office/drawing/2014/main" id="{306EAF0C-F17D-47D6-BAA1-16745F4F70D9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193135" y="4138611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D091E31C-C1DC-4D72-8C9E-3B6BD91E72AF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193134" y="4499972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2" name="Substituent text 2">
            <a:extLst>
              <a:ext uri="{FF2B5EF4-FFF2-40B4-BE49-F238E27FC236}">
                <a16:creationId xmlns:a16="http://schemas.microsoft.com/office/drawing/2014/main" id="{F62E753C-C8BE-457D-9B22-6A8227347A67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123499" y="4142294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3" name="Substituent text 2">
            <a:extLst>
              <a:ext uri="{FF2B5EF4-FFF2-40B4-BE49-F238E27FC236}">
                <a16:creationId xmlns:a16="http://schemas.microsoft.com/office/drawing/2014/main" id="{BC1E8F6C-0BDD-4AFA-9E8D-5EF61AA59F5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123498" y="4503655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5" name="Substituent text 2">
            <a:extLst>
              <a:ext uri="{FF2B5EF4-FFF2-40B4-BE49-F238E27FC236}">
                <a16:creationId xmlns:a16="http://schemas.microsoft.com/office/drawing/2014/main" id="{C70C9772-55FF-4449-988F-6CDDE075E73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1262770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6" name="Substituent text 2">
            <a:extLst>
              <a:ext uri="{FF2B5EF4-FFF2-40B4-BE49-F238E27FC236}">
                <a16:creationId xmlns:a16="http://schemas.microsoft.com/office/drawing/2014/main" id="{75EE6DCE-6A55-4D95-85F7-E22E3E268256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262769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48" name="Substituent text 2">
            <a:extLst>
              <a:ext uri="{FF2B5EF4-FFF2-40B4-BE49-F238E27FC236}">
                <a16:creationId xmlns:a16="http://schemas.microsoft.com/office/drawing/2014/main" id="{84DC7882-7541-4AEA-95FE-DDBCF6F9CA32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193135" y="4826750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49" name="Substituent text 2">
            <a:extLst>
              <a:ext uri="{FF2B5EF4-FFF2-40B4-BE49-F238E27FC236}">
                <a16:creationId xmlns:a16="http://schemas.microsoft.com/office/drawing/2014/main" id="{5542D500-4CD6-4FDE-9133-F8020797D9B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3193134" y="5188111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51" name="Substituent text 2">
            <a:extLst>
              <a:ext uri="{FF2B5EF4-FFF2-40B4-BE49-F238E27FC236}">
                <a16:creationId xmlns:a16="http://schemas.microsoft.com/office/drawing/2014/main" id="{500C362B-BA02-4F7D-86F6-3F6F2EF20D04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23499" y="4830433"/>
            <a:ext cx="1283894" cy="349611"/>
          </a:xfrm>
        </p:spPr>
        <p:txBody>
          <a:bodyPr lIns="0" tIns="0" rIns="0" bIns="0" rtlCol="0" anchor="b">
            <a:normAutofit/>
          </a:bodyPr>
          <a:lstStyle>
            <a:lvl1pPr marL="0" indent="0" algn="l">
              <a:spcBef>
                <a:spcPts val="600"/>
              </a:spcBef>
              <a:buNone/>
              <a:defRPr sz="1800" b="1" i="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1.500.000 lei</a:t>
            </a:r>
          </a:p>
        </p:txBody>
      </p:sp>
      <p:sp>
        <p:nvSpPr>
          <p:cNvPr id="52" name="Substituent text 2">
            <a:extLst>
              <a:ext uri="{FF2B5EF4-FFF2-40B4-BE49-F238E27FC236}">
                <a16:creationId xmlns:a16="http://schemas.microsoft.com/office/drawing/2014/main" id="{E213E497-634E-40E7-BF08-765CC21529E2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5123498" y="5191794"/>
            <a:ext cx="1285861" cy="246279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spcBef>
                <a:spcPts val="600"/>
              </a:spcBef>
              <a:buNone/>
              <a:defRPr sz="14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 dirty="0"/>
              <a:t>Titlu Categorie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01C659-0131-449B-BA07-5BC568F00BF0}"/>
              </a:ext>
            </a:extLst>
          </p:cNvPr>
          <p:cNvSpPr/>
          <p:nvPr userDrawn="1"/>
        </p:nvSpPr>
        <p:spPr>
          <a:xfrm>
            <a:off x="790959" y="4258650"/>
            <a:ext cx="384048" cy="3840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69CB80EA-A8D6-4099-9412-0C14095755FF}"/>
              </a:ext>
            </a:extLst>
          </p:cNvPr>
          <p:cNvSpPr/>
          <p:nvPr userDrawn="1"/>
        </p:nvSpPr>
        <p:spPr>
          <a:xfrm>
            <a:off x="790959" y="4965077"/>
            <a:ext cx="384048" cy="384048"/>
          </a:xfrm>
          <a:prstGeom prst="ellipse">
            <a:avLst/>
          </a:prstGeom>
          <a:solidFill>
            <a:srgbClr val="225B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2E20CCE5-B889-49FE-8FA6-A6F0F11A5D91}"/>
              </a:ext>
            </a:extLst>
          </p:cNvPr>
          <p:cNvSpPr/>
          <p:nvPr userDrawn="1"/>
        </p:nvSpPr>
        <p:spPr>
          <a:xfrm>
            <a:off x="2725217" y="4261982"/>
            <a:ext cx="384048" cy="384048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69A77E3-4AFB-45BB-8FDC-4AD084EA9D23}"/>
              </a:ext>
            </a:extLst>
          </p:cNvPr>
          <p:cNvSpPr/>
          <p:nvPr userDrawn="1"/>
        </p:nvSpPr>
        <p:spPr>
          <a:xfrm>
            <a:off x="2725217" y="4968409"/>
            <a:ext cx="384048" cy="3840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3A8B986-3280-4EAC-846B-9167ECC55646}"/>
              </a:ext>
            </a:extLst>
          </p:cNvPr>
          <p:cNvSpPr/>
          <p:nvPr userDrawn="1"/>
        </p:nvSpPr>
        <p:spPr>
          <a:xfrm>
            <a:off x="4660323" y="4257848"/>
            <a:ext cx="384048" cy="384048"/>
          </a:xfrm>
          <a:prstGeom prst="ellipse">
            <a:avLst/>
          </a:prstGeom>
          <a:solidFill>
            <a:srgbClr val="B531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AE6D315-5EC0-4956-B7BF-B94D2AFE679B}"/>
              </a:ext>
            </a:extLst>
          </p:cNvPr>
          <p:cNvSpPr/>
          <p:nvPr userDrawn="1"/>
        </p:nvSpPr>
        <p:spPr>
          <a:xfrm>
            <a:off x="4660323" y="4964275"/>
            <a:ext cx="384048" cy="3840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12" name="Substituent diagramă 11">
            <a:extLst>
              <a:ext uri="{FF2B5EF4-FFF2-40B4-BE49-F238E27FC236}">
                <a16:creationId xmlns:a16="http://schemas.microsoft.com/office/drawing/2014/main" id="{9ED8422E-0C74-45EF-B794-252146C6639A}"/>
              </a:ext>
            </a:extLst>
          </p:cNvPr>
          <p:cNvSpPr>
            <a:spLocks noGrp="1"/>
          </p:cNvSpPr>
          <p:nvPr>
            <p:ph type="chart" sz="quarter" idx="55"/>
          </p:nvPr>
        </p:nvSpPr>
        <p:spPr>
          <a:xfrm>
            <a:off x="6924675" y="860425"/>
            <a:ext cx="4483100" cy="457358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diagramă</a:t>
            </a:r>
            <a:endParaRPr lang="ro-RO" noProof="0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B7C827-F016-49F6-B775-FAC0E6420466}"/>
              </a:ext>
            </a:extLst>
          </p:cNvPr>
          <p:cNvSpPr/>
          <p:nvPr userDrawn="1"/>
        </p:nvSpPr>
        <p:spPr>
          <a:xfrm>
            <a:off x="6905624" y="905669"/>
            <a:ext cx="4483100" cy="4483100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0F8D2C7-9093-4F92-B8A4-D819FEE69F1F}"/>
              </a:ext>
            </a:extLst>
          </p:cNvPr>
          <p:cNvSpPr/>
          <p:nvPr userDrawn="1"/>
        </p:nvSpPr>
        <p:spPr>
          <a:xfrm>
            <a:off x="8294757" y="2294802"/>
            <a:ext cx="1704834" cy="1704834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cxnSp>
        <p:nvCxnSpPr>
          <p:cNvPr id="41" name="Conector drept 40">
            <a:extLst>
              <a:ext uri="{FF2B5EF4-FFF2-40B4-BE49-F238E27FC236}">
                <a16:creationId xmlns:a16="http://schemas.microsoft.com/office/drawing/2014/main" id="{0DE9D0C0-04C1-4621-8B2D-E65A25A8DCF3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75514" y="450000"/>
            <a:ext cx="90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490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imagine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4591" y="1411243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FACEȚI CLIC PENTRU A EDITA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4591" y="2564787"/>
            <a:ext cx="4473108" cy="569085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924675" y="2314168"/>
            <a:ext cx="5267325" cy="100800"/>
            <a:chOff x="0" y="3240138"/>
            <a:chExt cx="3434400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/>
            <p:nvPr userDrawn="1"/>
          </p:nvCxnSpPr>
          <p:spPr>
            <a:xfrm>
              <a:off x="0" y="3290538"/>
              <a:ext cx="3384000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368676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E12A846-0DFC-435B-BAE9-D90C353E034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894591" y="3189568"/>
            <a:ext cx="4482996" cy="2432603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2" name="Substituent imagine 7">
            <a:extLst>
              <a:ext uri="{FF2B5EF4-FFF2-40B4-BE49-F238E27FC236}">
                <a16:creationId xmlns:a16="http://schemas.microsoft.com/office/drawing/2014/main" id="{CF430BFB-0A7C-4FB8-B93B-8DA19F3E63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3710" y="1792784"/>
            <a:ext cx="6073999" cy="37216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2869787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țumiri Aspect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36EF099F-79D2-486F-A4B2-DD4F699752C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6000" y="0"/>
            <a:ext cx="6089650" cy="685800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20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1" name="Titlu 1">
            <a:extLst>
              <a:ext uri="{FF2B5EF4-FFF2-40B4-BE49-F238E27FC236}">
                <a16:creationId xmlns:a16="http://schemas.microsoft.com/office/drawing/2014/main" id="{1FF22294-F2E5-4C74-A30C-46BA988FD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9959" y="1546091"/>
            <a:ext cx="4846923" cy="1091078"/>
          </a:xfrm>
        </p:spPr>
        <p:txBody>
          <a:bodyPr lIns="0" tIns="0" rIns="0" bIns="0" rtlCol="0" anchor="b" anchorCtr="0">
            <a:noAutofit/>
          </a:bodyPr>
          <a:lstStyle>
            <a:lvl1pPr>
              <a:defRPr sz="5500"/>
            </a:lvl1pPr>
          </a:lstStyle>
          <a:p>
            <a:pPr rtl="0"/>
            <a:r>
              <a:rPr lang="ro-RO" noProof="0" dirty="0"/>
              <a:t>VĂ MULȚUMIM!</a:t>
            </a:r>
          </a:p>
        </p:txBody>
      </p:sp>
      <p:sp>
        <p:nvSpPr>
          <p:cNvPr id="22" name="Substituent text 3">
            <a:extLst>
              <a:ext uri="{FF2B5EF4-FFF2-40B4-BE49-F238E27FC236}">
                <a16:creationId xmlns:a16="http://schemas.microsoft.com/office/drawing/2014/main" id="{FC5C0DA6-1B31-4BDF-BAEB-BF79781028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335" y="3083960"/>
            <a:ext cx="4586288" cy="509472"/>
          </a:xfrm>
        </p:spPr>
        <p:txBody>
          <a:bodyPr lIns="0" tIns="0" rIns="0" bIns="0" rtlCol="0" anchor="b" anchorCtr="0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Iustin Munteanu</a:t>
            </a:r>
          </a:p>
        </p:txBody>
      </p:sp>
      <p:sp>
        <p:nvSpPr>
          <p:cNvPr id="23" name="Substituent text 3">
            <a:extLst>
              <a:ext uri="{FF2B5EF4-FFF2-40B4-BE49-F238E27FC236}">
                <a16:creationId xmlns:a16="http://schemas.microsoft.com/office/drawing/2014/main" id="{5E1647C9-9AC1-4500-A56E-94CABC656E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370383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700" b="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Telefon:</a:t>
            </a:r>
          </a:p>
        </p:txBody>
      </p:sp>
      <p:sp>
        <p:nvSpPr>
          <p:cNvPr id="24" name="Substituent text 3">
            <a:extLst>
              <a:ext uri="{FF2B5EF4-FFF2-40B4-BE49-F238E27FC236}">
                <a16:creationId xmlns:a16="http://schemas.microsoft.com/office/drawing/2014/main" id="{8605CECB-8164-4428-B478-98C42902F9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950" y="3946707"/>
            <a:ext cx="4586288" cy="29016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+7 888 999 000 11</a:t>
            </a:r>
          </a:p>
        </p:txBody>
      </p:sp>
      <p:sp>
        <p:nvSpPr>
          <p:cNvPr id="25" name="Substituent text 3">
            <a:extLst>
              <a:ext uri="{FF2B5EF4-FFF2-40B4-BE49-F238E27FC236}">
                <a16:creationId xmlns:a16="http://schemas.microsoft.com/office/drawing/2014/main" id="{D39B56C4-E128-4995-91CC-64C268BC76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8750" y="4423954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E-mail:</a:t>
            </a:r>
          </a:p>
        </p:txBody>
      </p:sp>
      <p:sp>
        <p:nvSpPr>
          <p:cNvPr id="26" name="Substituent text 3">
            <a:extLst>
              <a:ext uri="{FF2B5EF4-FFF2-40B4-BE49-F238E27FC236}">
                <a16:creationId xmlns:a16="http://schemas.microsoft.com/office/drawing/2014/main" id="{94772DA1-74CC-430C-9A8E-5A6586692C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1850" y="4650785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Munteanu@vanarsdelltd.com</a:t>
            </a:r>
          </a:p>
        </p:txBody>
      </p:sp>
      <p:sp>
        <p:nvSpPr>
          <p:cNvPr id="27" name="Substituent text 3">
            <a:extLst>
              <a:ext uri="{FF2B5EF4-FFF2-40B4-BE49-F238E27FC236}">
                <a16:creationId xmlns:a16="http://schemas.microsoft.com/office/drawing/2014/main" id="{7A073B5B-2BE3-49D1-A646-1492F534C9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1850" y="5153025"/>
            <a:ext cx="4586288" cy="230941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ru-RU" sz="1700" b="0" i="1" kern="120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Site web:</a:t>
            </a:r>
          </a:p>
        </p:txBody>
      </p:sp>
      <p:sp>
        <p:nvSpPr>
          <p:cNvPr id="28" name="Substituent text 3">
            <a:extLst>
              <a:ext uri="{FF2B5EF4-FFF2-40B4-BE49-F238E27FC236}">
                <a16:creationId xmlns:a16="http://schemas.microsoft.com/office/drawing/2014/main" id="{52D10EDD-0329-4443-8665-7603E4A83B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950" y="5363814"/>
            <a:ext cx="4586288" cy="364479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3600" b="1">
                <a:solidFill>
                  <a:schemeClr val="bg2"/>
                </a:solidFill>
                <a:latin typeface="+mj-lt"/>
              </a:defRPr>
            </a:lvl2pPr>
            <a:lvl3pPr marL="914400" indent="0">
              <a:buNone/>
              <a:defRPr sz="3600" b="1">
                <a:solidFill>
                  <a:schemeClr val="bg2"/>
                </a:solidFill>
                <a:latin typeface="+mj-lt"/>
              </a:defRPr>
            </a:lvl3pPr>
            <a:lvl4pPr marL="1371600" indent="0">
              <a:buNone/>
              <a:defRPr sz="3600" b="1">
                <a:solidFill>
                  <a:schemeClr val="bg2"/>
                </a:solidFill>
                <a:latin typeface="+mj-lt"/>
              </a:defRPr>
            </a:lvl4pPr>
            <a:lvl5pPr marL="1828800" indent="0">
              <a:buNone/>
              <a:defRPr sz="3600" b="1">
                <a:solidFill>
                  <a:schemeClr val="bg2"/>
                </a:solidFill>
                <a:latin typeface="+mj-lt"/>
              </a:defRPr>
            </a:lvl5pPr>
          </a:lstStyle>
          <a:p>
            <a:pPr lvl="0" rtl="0"/>
            <a:r>
              <a:rPr lang="ro-RO" noProof="0" dirty="0"/>
              <a:t>www.vanarsdelltd.com</a:t>
            </a:r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5F591C52-0202-44BA-A6BE-E2362516B893}"/>
              </a:ext>
            </a:extLst>
          </p:cNvPr>
          <p:cNvGrpSpPr/>
          <p:nvPr userDrawn="1"/>
        </p:nvGrpSpPr>
        <p:grpSpPr>
          <a:xfrm>
            <a:off x="801543" y="2750589"/>
            <a:ext cx="4804913" cy="100800"/>
            <a:chOff x="808548" y="2750589"/>
            <a:chExt cx="4804913" cy="100800"/>
          </a:xfrm>
        </p:grpSpPr>
        <p:grpSp>
          <p:nvGrpSpPr>
            <p:cNvPr id="11" name="Gr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750759" cy="100800"/>
              <a:chOff x="336813" y="3240138"/>
              <a:chExt cx="3097587" cy="100800"/>
            </a:xfrm>
          </p:grpSpPr>
          <p:cxnSp>
            <p:nvCxnSpPr>
              <p:cNvPr id="12" name="Conector drept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336813" y="3285674"/>
                <a:ext cx="304718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CBEDE0-51BB-48BD-AAAD-63B6F60C1D57}"/>
                </a:ext>
              </a:extLst>
            </p:cNvPr>
            <p:cNvSpPr/>
            <p:nvPr userDrawn="1"/>
          </p:nvSpPr>
          <p:spPr>
            <a:xfrm flipH="1">
              <a:off x="5512660" y="2750589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32" name="Grup 31">
            <a:extLst>
              <a:ext uri="{FF2B5EF4-FFF2-40B4-BE49-F238E27FC236}">
                <a16:creationId xmlns:a16="http://schemas.microsoft.com/office/drawing/2014/main" id="{63E1608D-F119-4C0D-8D91-7CB089C037C8}"/>
              </a:ext>
            </a:extLst>
          </p:cNvPr>
          <p:cNvGrpSpPr/>
          <p:nvPr userDrawn="1"/>
        </p:nvGrpSpPr>
        <p:grpSpPr>
          <a:xfrm>
            <a:off x="801543" y="1660573"/>
            <a:ext cx="4817222" cy="105664"/>
            <a:chOff x="808548" y="2745725"/>
            <a:chExt cx="4817222" cy="105664"/>
          </a:xfrm>
        </p:grpSpPr>
        <p:grpSp>
          <p:nvGrpSpPr>
            <p:cNvPr id="33" name="Grup 32">
              <a:extLst>
                <a:ext uri="{FF2B5EF4-FFF2-40B4-BE49-F238E27FC236}">
                  <a16:creationId xmlns:a16="http://schemas.microsoft.com/office/drawing/2014/main" id="{EBDC0121-6865-4B65-A28B-1CEDB16AAD9E}"/>
                </a:ext>
              </a:extLst>
            </p:cNvPr>
            <p:cNvGrpSpPr/>
            <p:nvPr userDrawn="1"/>
          </p:nvGrpSpPr>
          <p:grpSpPr>
            <a:xfrm flipH="1">
              <a:off x="808548" y="2750589"/>
              <a:ext cx="4750759" cy="100800"/>
              <a:chOff x="336813" y="3240138"/>
              <a:chExt cx="3097587" cy="100800"/>
            </a:xfrm>
          </p:grpSpPr>
          <p:cxnSp>
            <p:nvCxnSpPr>
              <p:cNvPr id="35" name="Conector drept 34">
                <a:extLst>
                  <a:ext uri="{FF2B5EF4-FFF2-40B4-BE49-F238E27FC236}">
                    <a16:creationId xmlns:a16="http://schemas.microsoft.com/office/drawing/2014/main" id="{386E3714-07DE-4318-B5BC-25F879B97D59}"/>
                  </a:ext>
                </a:extLst>
              </p:cNvPr>
              <p:cNvCxnSpPr/>
              <p:nvPr userDrawn="1"/>
            </p:nvCxnSpPr>
            <p:spPr>
              <a:xfrm>
                <a:off x="336813" y="3285674"/>
                <a:ext cx="3047188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2ECCE30B-E848-4C5E-83A1-A811D489E7B8}"/>
                  </a:ext>
                </a:extLst>
              </p:cNvPr>
              <p:cNvSpPr/>
              <p:nvPr userDrawn="1"/>
            </p:nvSpPr>
            <p:spPr>
              <a:xfrm>
                <a:off x="336867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9817AEC-C67C-49A3-AC5A-669FD4D6D586}"/>
                </a:ext>
              </a:extLst>
            </p:cNvPr>
            <p:cNvSpPr/>
            <p:nvPr userDrawn="1"/>
          </p:nvSpPr>
          <p:spPr>
            <a:xfrm flipH="1">
              <a:off x="5524969" y="2745725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78839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pl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96C5B5AA-0D95-4C33-8EBC-90401B5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32" y="1912946"/>
            <a:ext cx="12185968" cy="3493008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8934" y="457496"/>
            <a:ext cx="4494133" cy="804338"/>
          </a:xfrm>
        </p:spPr>
        <p:txBody>
          <a:bodyPr lIns="0" tIns="0" rIns="0" bIns="0"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ro-RO" noProof="0" dirty="0"/>
              <a:t>ANEXĂ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grpSp>
        <p:nvGrpSpPr>
          <p:cNvPr id="4" name="Grup 3">
            <a:extLst>
              <a:ext uri="{FF2B5EF4-FFF2-40B4-BE49-F238E27FC236}">
                <a16:creationId xmlns:a16="http://schemas.microsoft.com/office/drawing/2014/main" id="{908B302A-0F76-466E-9FCE-DCEECCBCF6C9}"/>
              </a:ext>
            </a:extLst>
          </p:cNvPr>
          <p:cNvGrpSpPr/>
          <p:nvPr userDrawn="1"/>
        </p:nvGrpSpPr>
        <p:grpSpPr>
          <a:xfrm>
            <a:off x="5367320" y="1509426"/>
            <a:ext cx="1403327" cy="100800"/>
            <a:chOff x="5345460" y="1509426"/>
            <a:chExt cx="1403327" cy="100800"/>
          </a:xfrm>
        </p:grpSpPr>
        <p:grpSp>
          <p:nvGrpSpPr>
            <p:cNvPr id="11" name="Grup 10">
              <a:extLst>
                <a:ext uri="{FF2B5EF4-FFF2-40B4-BE49-F238E27FC236}">
                  <a16:creationId xmlns:a16="http://schemas.microsoft.com/office/drawing/2014/main" id="{59E4D57E-4989-4939-A31F-637543FAB606}"/>
                </a:ext>
              </a:extLst>
            </p:cNvPr>
            <p:cNvGrpSpPr/>
            <p:nvPr userDrawn="1"/>
          </p:nvGrpSpPr>
          <p:grpSpPr>
            <a:xfrm flipH="1">
              <a:off x="5345460" y="1509426"/>
              <a:ext cx="1395946" cy="100800"/>
              <a:chOff x="2124376" y="3240138"/>
              <a:chExt cx="910184" cy="100800"/>
            </a:xfrm>
          </p:grpSpPr>
          <p:cxnSp>
            <p:nvCxnSpPr>
              <p:cNvPr id="12" name="Conector drept 11">
                <a:extLst>
                  <a:ext uri="{FF2B5EF4-FFF2-40B4-BE49-F238E27FC236}">
                    <a16:creationId xmlns:a16="http://schemas.microsoft.com/office/drawing/2014/main" id="{370B72A7-B625-48B8-88E6-BCE2A4DD531E}"/>
                  </a:ext>
                </a:extLst>
              </p:cNvPr>
              <p:cNvCxnSpPr/>
              <p:nvPr userDrawn="1"/>
            </p:nvCxnSpPr>
            <p:spPr>
              <a:xfrm>
                <a:off x="2124376" y="3290538"/>
                <a:ext cx="859382" cy="0"/>
              </a:xfrm>
              <a:prstGeom prst="line">
                <a:avLst/>
              </a:prstGeom>
              <a:ln>
                <a:solidFill>
                  <a:schemeClr val="bg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01ED729F-F8A5-4244-9776-4935C260F11F}"/>
                  </a:ext>
                </a:extLst>
              </p:cNvPr>
              <p:cNvSpPr/>
              <p:nvPr userDrawn="1"/>
            </p:nvSpPr>
            <p:spPr>
              <a:xfrm>
                <a:off x="2968836" y="3240138"/>
                <a:ext cx="65724" cy="100800"/>
              </a:xfrm>
              <a:prstGeom prst="ellipse">
                <a:avLst/>
              </a:prstGeom>
              <a:solidFill>
                <a:schemeClr val="bg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rtl="0"/>
                <a:endParaRPr lang="ro-RO" noProof="0" dirty="0"/>
              </a:p>
            </p:txBody>
          </p:sp>
        </p:grp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27C0C4F-6341-4BE0-931E-AAA6EA2AF137}"/>
                </a:ext>
              </a:extLst>
            </p:cNvPr>
            <p:cNvSpPr/>
            <p:nvPr userDrawn="1"/>
          </p:nvSpPr>
          <p:spPr>
            <a:xfrm flipH="1">
              <a:off x="6647986" y="1509426"/>
              <a:ext cx="100801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5764489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mărtur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4263" y="707529"/>
            <a:ext cx="6310887" cy="569086"/>
          </a:xfrm>
        </p:spPr>
        <p:txBody>
          <a:bodyPr lIns="0" tIns="0" rIns="0" bIns="0" rtlCol="0" anchor="b">
            <a:normAutofit/>
          </a:bodyPr>
          <a:lstStyle>
            <a:lvl1pPr algn="r">
              <a:defRPr sz="3600"/>
            </a:lvl1pPr>
          </a:lstStyle>
          <a:p>
            <a:pPr rtl="0"/>
            <a:r>
              <a:rPr lang="ro-RO" noProof="0" dirty="0"/>
              <a:t>MĂRTURII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9396169" y="1375202"/>
            <a:ext cx="2795833" cy="100800"/>
            <a:chOff x="675502" y="3240138"/>
            <a:chExt cx="1745623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5502" y="3290538"/>
              <a:ext cx="1712761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2355401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40" name="Substituent text 2">
            <a:extLst>
              <a:ext uri="{FF2B5EF4-FFF2-40B4-BE49-F238E27FC236}">
                <a16:creationId xmlns:a16="http://schemas.microsoft.com/office/drawing/2014/main" id="{4A98AB01-9578-4430-96AD-F434AF0CDA20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459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41" name="Substituent text 2">
            <a:extLst>
              <a:ext uri="{FF2B5EF4-FFF2-40B4-BE49-F238E27FC236}">
                <a16:creationId xmlns:a16="http://schemas.microsoft.com/office/drawing/2014/main" id="{EF9D60F2-A1FB-4A95-997B-A4F1723AC1EC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22459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42" name="Substituent imagine 2">
            <a:extLst>
              <a:ext uri="{FF2B5EF4-FFF2-40B4-BE49-F238E27FC236}">
                <a16:creationId xmlns:a16="http://schemas.microsoft.com/office/drawing/2014/main" id="{76A56D2A-42F0-40C5-96D7-B1AC33152A8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2447783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43" name="Conector drept 42">
            <a:extLst>
              <a:ext uri="{FF2B5EF4-FFF2-40B4-BE49-F238E27FC236}">
                <a16:creationId xmlns:a16="http://schemas.microsoft.com/office/drawing/2014/main" id="{CF6D1C91-9136-4678-A712-92BE9B3902C4}"/>
              </a:ext>
            </a:extLst>
          </p:cNvPr>
          <p:cNvCxnSpPr>
            <a:cxnSpLocks/>
          </p:cNvCxnSpPr>
          <p:nvPr userDrawn="1"/>
        </p:nvCxnSpPr>
        <p:spPr>
          <a:xfrm flipV="1">
            <a:off x="3000995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F2D92A7B-1C40-4AEB-92C3-C35F8C01F1F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03253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2E312F1-B417-47B6-97E4-7CCA31034F82}"/>
              </a:ext>
            </a:extLst>
          </p:cNvPr>
          <p:cNvSpPr/>
          <p:nvPr userDrawn="1"/>
        </p:nvSpPr>
        <p:spPr>
          <a:xfrm>
            <a:off x="2950595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58" name="Substituent text 2">
            <a:extLst>
              <a:ext uri="{FF2B5EF4-FFF2-40B4-BE49-F238E27FC236}">
                <a16:creationId xmlns:a16="http://schemas.microsoft.com/office/drawing/2014/main" id="{13DB5D84-04D8-4536-A06B-AED76E7C51D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4586638" y="4996962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59" name="Substituent text 2">
            <a:extLst>
              <a:ext uri="{FF2B5EF4-FFF2-40B4-BE49-F238E27FC236}">
                <a16:creationId xmlns:a16="http://schemas.microsoft.com/office/drawing/2014/main" id="{3AB0AC7E-7919-422E-95A1-82E8B125756D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586638" y="4191894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60" name="Substituent imagine 2">
            <a:extLst>
              <a:ext uri="{FF2B5EF4-FFF2-40B4-BE49-F238E27FC236}">
                <a16:creationId xmlns:a16="http://schemas.microsoft.com/office/drawing/2014/main" id="{B44FD76B-D1AE-458B-AF32-E4AA246B0881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211962" y="4435460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61" name="Conector drept 60">
            <a:extLst>
              <a:ext uri="{FF2B5EF4-FFF2-40B4-BE49-F238E27FC236}">
                <a16:creationId xmlns:a16="http://schemas.microsoft.com/office/drawing/2014/main" id="{07D22CD4-7F86-495D-B381-7D706058B916}"/>
              </a:ext>
            </a:extLst>
          </p:cNvPr>
          <p:cNvCxnSpPr>
            <a:cxnSpLocks/>
          </p:cNvCxnSpPr>
          <p:nvPr userDrawn="1"/>
        </p:nvCxnSpPr>
        <p:spPr>
          <a:xfrm flipV="1">
            <a:off x="6765174" y="3984820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Substituent text 3">
            <a:extLst>
              <a:ext uri="{FF2B5EF4-FFF2-40B4-BE49-F238E27FC236}">
                <a16:creationId xmlns:a16="http://schemas.microsoft.com/office/drawing/2014/main" id="{1BA0EB90-BA97-4A18-AD3D-1E839B636DE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56743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ED057A87-963C-4F8A-BD4C-959BF8AF699B}"/>
              </a:ext>
            </a:extLst>
          </p:cNvPr>
          <p:cNvSpPr/>
          <p:nvPr userDrawn="1"/>
        </p:nvSpPr>
        <p:spPr>
          <a:xfrm>
            <a:off x="6714774" y="3930376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64" name="Substituent text 2">
            <a:extLst>
              <a:ext uri="{FF2B5EF4-FFF2-40B4-BE49-F238E27FC236}">
                <a16:creationId xmlns:a16="http://schemas.microsoft.com/office/drawing/2014/main" id="{B6BAFE05-9EC0-4C3C-AB0F-89A83361452F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8350818" y="4992196"/>
            <a:ext cx="1625324" cy="328343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600" i="1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Titlu client</a:t>
            </a:r>
          </a:p>
        </p:txBody>
      </p:sp>
      <p:sp>
        <p:nvSpPr>
          <p:cNvPr id="65" name="Substituent text 2">
            <a:extLst>
              <a:ext uri="{FF2B5EF4-FFF2-40B4-BE49-F238E27FC236}">
                <a16:creationId xmlns:a16="http://schemas.microsoft.com/office/drawing/2014/main" id="{290BF8E2-78CA-4427-9231-3C5EDC272DEE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8350818" y="4187128"/>
            <a:ext cx="1625324" cy="720726"/>
          </a:xfrm>
        </p:spPr>
        <p:txBody>
          <a:bodyPr lIns="0" tIns="0" rIns="0" bIns="0" rtlCol="0" anchor="b" anchorCtr="0">
            <a:normAutofit/>
          </a:bodyPr>
          <a:lstStyle>
            <a:lvl1pPr marL="0" indent="0"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2000" b="1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Editare coordonator</a:t>
            </a:r>
            <a:br>
              <a:rPr lang="ro-RO" noProof="0" dirty="0"/>
            </a:br>
            <a:r>
              <a:rPr lang="ro-RO" noProof="0" dirty="0"/>
              <a:t>text</a:t>
            </a:r>
          </a:p>
        </p:txBody>
      </p:sp>
      <p:sp>
        <p:nvSpPr>
          <p:cNvPr id="66" name="Substituent imagine 2">
            <a:extLst>
              <a:ext uri="{FF2B5EF4-FFF2-40B4-BE49-F238E27FC236}">
                <a16:creationId xmlns:a16="http://schemas.microsoft.com/office/drawing/2014/main" id="{ACA8732F-AB9E-4253-BB5A-5ADD5BA9B15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976142" y="4430694"/>
            <a:ext cx="1106424" cy="1106423"/>
          </a:xfrm>
          <a:prstGeom prst="ellipse">
            <a:avLst/>
          </a:prstGeom>
          <a:ln w="12700">
            <a:solidFill>
              <a:schemeClr val="bg1">
                <a:lumMod val="50000"/>
                <a:lumOff val="50000"/>
              </a:schemeClr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cxnSp>
        <p:nvCxnSpPr>
          <p:cNvPr id="67" name="Conector drept 66">
            <a:extLst>
              <a:ext uri="{FF2B5EF4-FFF2-40B4-BE49-F238E27FC236}">
                <a16:creationId xmlns:a16="http://schemas.microsoft.com/office/drawing/2014/main" id="{BB9A566A-8C97-4AE6-B9EF-701587499889}"/>
              </a:ext>
            </a:extLst>
          </p:cNvPr>
          <p:cNvCxnSpPr>
            <a:cxnSpLocks/>
          </p:cNvCxnSpPr>
          <p:nvPr userDrawn="1"/>
        </p:nvCxnSpPr>
        <p:spPr>
          <a:xfrm flipV="1">
            <a:off x="10529354" y="3980054"/>
            <a:ext cx="0" cy="44255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Substituent text 3">
            <a:extLst>
              <a:ext uri="{FF2B5EF4-FFF2-40B4-BE49-F238E27FC236}">
                <a16:creationId xmlns:a16="http://schemas.microsoft.com/office/drawing/2014/main" id="{45B69021-5E85-4B37-B529-366AC57512F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31612" y="1769589"/>
            <a:ext cx="3044973" cy="2212848"/>
          </a:xfrm>
          <a:custGeom>
            <a:avLst/>
            <a:gdLst>
              <a:gd name="connsiteX0" fmla="*/ 0 w 3044952"/>
              <a:gd name="connsiteY0" fmla="*/ 368815 h 2212848"/>
              <a:gd name="connsiteX1" fmla="*/ 3688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676137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0 w 3044952"/>
              <a:gd name="connsiteY0" fmla="*/ 368815 h 2212848"/>
              <a:gd name="connsiteX1" fmla="*/ 254515 w 3044952"/>
              <a:gd name="connsiteY1" fmla="*/ 0 h 2212848"/>
              <a:gd name="connsiteX2" fmla="*/ 2842392 w 3044952"/>
              <a:gd name="connsiteY2" fmla="*/ 0 h 2212848"/>
              <a:gd name="connsiteX3" fmla="*/ 3044952 w 3044952"/>
              <a:gd name="connsiteY3" fmla="*/ 368815 h 2212848"/>
              <a:gd name="connsiteX4" fmla="*/ 3044952 w 3044952"/>
              <a:gd name="connsiteY4" fmla="*/ 1844033 h 2212848"/>
              <a:gd name="connsiteX5" fmla="*/ 2676137 w 3044952"/>
              <a:gd name="connsiteY5" fmla="*/ 2212848 h 2212848"/>
              <a:gd name="connsiteX6" fmla="*/ 368815 w 3044952"/>
              <a:gd name="connsiteY6" fmla="*/ 2212848 h 2212848"/>
              <a:gd name="connsiteX7" fmla="*/ 0 w 3044952"/>
              <a:gd name="connsiteY7" fmla="*/ 1844033 h 2212848"/>
              <a:gd name="connsiteX8" fmla="*/ 0 w 3044952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368836 w 3044973"/>
              <a:gd name="connsiteY6" fmla="*/ 2212848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676158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  <a:gd name="connsiteX0" fmla="*/ 21 w 3044973"/>
              <a:gd name="connsiteY0" fmla="*/ 368815 h 2212848"/>
              <a:gd name="connsiteX1" fmla="*/ 197386 w 3044973"/>
              <a:gd name="connsiteY1" fmla="*/ 0 h 2212848"/>
              <a:gd name="connsiteX2" fmla="*/ 2842413 w 3044973"/>
              <a:gd name="connsiteY2" fmla="*/ 0 h 2212848"/>
              <a:gd name="connsiteX3" fmla="*/ 3044973 w 3044973"/>
              <a:gd name="connsiteY3" fmla="*/ 368815 h 2212848"/>
              <a:gd name="connsiteX4" fmla="*/ 3044973 w 3044973"/>
              <a:gd name="connsiteY4" fmla="*/ 1844033 h 2212848"/>
              <a:gd name="connsiteX5" fmla="*/ 2842413 w 3044973"/>
              <a:gd name="connsiteY5" fmla="*/ 2212848 h 2212848"/>
              <a:gd name="connsiteX6" fmla="*/ 233754 w 3044973"/>
              <a:gd name="connsiteY6" fmla="*/ 2207652 h 2212848"/>
              <a:gd name="connsiteX7" fmla="*/ 21 w 3044973"/>
              <a:gd name="connsiteY7" fmla="*/ 1844033 h 2212848"/>
              <a:gd name="connsiteX8" fmla="*/ 21 w 3044973"/>
              <a:gd name="connsiteY8" fmla="*/ 368815 h 2212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44973" h="2212848">
                <a:moveTo>
                  <a:pt x="21" y="368815"/>
                </a:moveTo>
                <a:cubicBezTo>
                  <a:pt x="21" y="165124"/>
                  <a:pt x="-6305" y="0"/>
                  <a:pt x="197386" y="0"/>
                </a:cubicBezTo>
                <a:lnTo>
                  <a:pt x="2842413" y="0"/>
                </a:lnTo>
                <a:cubicBezTo>
                  <a:pt x="3046104" y="0"/>
                  <a:pt x="3044973" y="165124"/>
                  <a:pt x="3044973" y="368815"/>
                </a:cubicBezTo>
                <a:lnTo>
                  <a:pt x="3044973" y="1844033"/>
                </a:lnTo>
                <a:cubicBezTo>
                  <a:pt x="3044973" y="2047724"/>
                  <a:pt x="3046104" y="2212848"/>
                  <a:pt x="2842413" y="2212848"/>
                </a:cubicBezTo>
                <a:lnTo>
                  <a:pt x="233754" y="2207652"/>
                </a:lnTo>
                <a:cubicBezTo>
                  <a:pt x="30063" y="2207652"/>
                  <a:pt x="21" y="2047724"/>
                  <a:pt x="21" y="1844033"/>
                </a:cubicBezTo>
                <a:lnTo>
                  <a:pt x="21" y="368815"/>
                </a:lnTo>
                <a:close/>
              </a:path>
            </a:pathLst>
          </a:custGeom>
          <a:ln>
            <a:solidFill>
              <a:schemeClr val="bg1">
                <a:lumMod val="50000"/>
                <a:lumOff val="50000"/>
              </a:schemeClr>
            </a:solidFill>
          </a:ln>
        </p:spPr>
        <p:txBody>
          <a:bodyPr lIns="216000" tIns="180000" rIns="216000" bIns="180000" rtlCol="0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407CD49-808A-445A-96C0-E3083C9FB390}"/>
              </a:ext>
            </a:extLst>
          </p:cNvPr>
          <p:cNvSpPr/>
          <p:nvPr userDrawn="1"/>
        </p:nvSpPr>
        <p:spPr>
          <a:xfrm>
            <a:off x="10478954" y="3925610"/>
            <a:ext cx="100800" cy="1008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641312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conținut de studiu de ca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09F1B35C-893A-4033-ADC0-2192AFA292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D637DF8-B064-4F36-89F8-EBF538A2E7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6" y="1980591"/>
            <a:ext cx="4187903" cy="1177174"/>
          </a:xfrm>
        </p:spPr>
        <p:txBody>
          <a:bodyPr lIns="0" tIns="0" rIns="0" bIns="0"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ro-RO" noProof="0" dirty="0"/>
              <a:t>STUDIU DE CAZ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8A72532A-5006-46B7-AE99-3A6891CD02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6770" y="3610893"/>
            <a:ext cx="4168311" cy="1897530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49EFC6D7-3241-401C-A16A-4A7CC265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5D6DC-ABA5-4D00-9CD3-92FFDD1F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2459C86-0106-40E0-AA18-795EC578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11" name="Substituent imagine 10">
            <a:extLst>
              <a:ext uri="{FF2B5EF4-FFF2-40B4-BE49-F238E27FC236}">
                <a16:creationId xmlns:a16="http://schemas.microsoft.com/office/drawing/2014/main" id="{6D14F7B3-A6CF-491C-9855-75B5784CC4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B7317392-EF87-4050-8BBE-32F74B0CF15A}"/>
              </a:ext>
            </a:extLst>
          </p:cNvPr>
          <p:cNvGrpSpPr/>
          <p:nvPr userDrawn="1"/>
        </p:nvGrpSpPr>
        <p:grpSpPr>
          <a:xfrm>
            <a:off x="0" y="3319328"/>
            <a:ext cx="3877785" cy="100800"/>
            <a:chOff x="-1228304" y="3240138"/>
            <a:chExt cx="3877785" cy="100800"/>
          </a:xfrm>
        </p:grpSpPr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785A4134-866D-4143-AC1E-8A2FFDB49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228304" y="3290538"/>
              <a:ext cx="3797643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BC5D9C-B8FB-455B-9398-36DB21F2765E}"/>
                </a:ext>
              </a:extLst>
            </p:cNvPr>
            <p:cNvSpPr/>
            <p:nvPr userDrawn="1"/>
          </p:nvSpPr>
          <p:spPr>
            <a:xfrm>
              <a:off x="2548681" y="3240138"/>
              <a:ext cx="100800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72225750-E4CE-4A81-A0C3-4023030D637E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8" name="Conector drept 17">
            <a:extLst>
              <a:ext uri="{FF2B5EF4-FFF2-40B4-BE49-F238E27FC236}">
                <a16:creationId xmlns:a16="http://schemas.microsoft.com/office/drawing/2014/main" id="{3819C324-07DF-49DB-A08C-0E6155CE3041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A34025-44F2-4A09-8629-F1794E9D35A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20" name="Conector drept 19">
            <a:extLst>
              <a:ext uri="{FF2B5EF4-FFF2-40B4-BE49-F238E27FC236}">
                <a16:creationId xmlns:a16="http://schemas.microsoft.com/office/drawing/2014/main" id="{815854A2-EAE9-4B2A-84CF-5A4BD753863A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ubstituent text 2">
            <a:extLst>
              <a:ext uri="{FF2B5EF4-FFF2-40B4-BE49-F238E27FC236}">
                <a16:creationId xmlns:a16="http://schemas.microsoft.com/office/drawing/2014/main" id="{82DA762C-1D45-43AA-9DB3-3D8DBE3EACF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67325" y="1126345"/>
            <a:ext cx="6086475" cy="2662466"/>
          </a:xfrm>
        </p:spPr>
        <p:txBody>
          <a:bodyPr lIns="0" tIns="0" r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8" name="Substituent text 2">
            <a:extLst>
              <a:ext uri="{FF2B5EF4-FFF2-40B4-BE49-F238E27FC236}">
                <a16:creationId xmlns:a16="http://schemas.microsoft.com/office/drawing/2014/main" id="{4C3C1BF4-C955-4D71-87E4-BE0F7B61957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69967" y="3909256"/>
            <a:ext cx="6086475" cy="1822399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</p:spTree>
    <p:extLst>
      <p:ext uri="{BB962C8B-B14F-4D97-AF65-F5344CB8AC3E}">
        <p14:creationId xmlns:p14="http://schemas.microsoft.com/office/powerpoint/2010/main" val="220595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pect telefon mobil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reptunghi 14">
            <a:extLst>
              <a:ext uri="{FF2B5EF4-FFF2-40B4-BE49-F238E27FC236}">
                <a16:creationId xmlns:a16="http://schemas.microsoft.com/office/drawing/2014/main" id="{E8E3FDB8-6D5C-48FE-99EA-7EC60F4D81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2D9775F3-A041-479A-8038-652B7D9C7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29BEDD04-BE4E-4B91-B13E-0C4FB3E1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306DF5D8-12DC-494E-B0F1-2E9C86A1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ABF87C9E-53A2-4DE1-89DC-3907BE2E3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294387"/>
            <a:ext cx="5314072" cy="569086"/>
          </a:xfrm>
        </p:spPr>
        <p:txBody>
          <a:bodyPr lIns="0" tIns="0" rIns="0" bIns="0" rtlCol="0" anchor="b">
            <a:normAutofit/>
          </a:bodyPr>
          <a:lstStyle>
            <a:lvl1pPr algn="l">
              <a:defRPr sz="3600"/>
            </a:lvl1pPr>
          </a:lstStyle>
          <a:p>
            <a:pPr rtl="0"/>
            <a:r>
              <a:rPr lang="ro-RO" noProof="0" dirty="0"/>
              <a:t>FACEȚI CLIC PENTRU A EDITA TITLUL</a:t>
            </a:r>
          </a:p>
        </p:txBody>
      </p:sp>
      <p:sp>
        <p:nvSpPr>
          <p:cNvPr id="9" name="Substituent text 2">
            <a:extLst>
              <a:ext uri="{FF2B5EF4-FFF2-40B4-BE49-F238E27FC236}">
                <a16:creationId xmlns:a16="http://schemas.microsoft.com/office/drawing/2014/main" id="{EB453F8F-AA02-4E0D-93BF-8CF4F14903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2212679"/>
            <a:ext cx="5292725" cy="978407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>
                <a:solidFill>
                  <a:schemeClr val="tx1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10" name="Substituent imagine 10">
            <a:extLst>
              <a:ext uri="{FF2B5EF4-FFF2-40B4-BE49-F238E27FC236}">
                <a16:creationId xmlns:a16="http://schemas.microsoft.com/office/drawing/2014/main" id="{A541F291-2E4B-474E-9ED0-55C97A2A06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1850" y="859665"/>
            <a:ext cx="1078992" cy="548640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2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11" name="Grup 10">
            <a:extLst>
              <a:ext uri="{FF2B5EF4-FFF2-40B4-BE49-F238E27FC236}">
                <a16:creationId xmlns:a16="http://schemas.microsoft.com/office/drawing/2014/main" id="{59E4D57E-4989-4939-A31F-637543FAB606}"/>
              </a:ext>
            </a:extLst>
          </p:cNvPr>
          <p:cNvGrpSpPr/>
          <p:nvPr userDrawn="1"/>
        </p:nvGrpSpPr>
        <p:grpSpPr>
          <a:xfrm flipH="1">
            <a:off x="6096000" y="1970230"/>
            <a:ext cx="6096000" cy="100800"/>
            <a:chOff x="646015" y="3248308"/>
            <a:chExt cx="3107749" cy="100800"/>
          </a:xfrm>
        </p:grpSpPr>
        <p:cxnSp>
          <p:nvCxnSpPr>
            <p:cNvPr id="12" name="Conector drept 11">
              <a:extLst>
                <a:ext uri="{FF2B5EF4-FFF2-40B4-BE49-F238E27FC236}">
                  <a16:creationId xmlns:a16="http://schemas.microsoft.com/office/drawing/2014/main" id="{370B72A7-B625-48B8-88E6-BCE2A4DD531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6015" y="3290538"/>
              <a:ext cx="3107749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ED729F-F8A5-4244-9776-4935C260F11F}"/>
                </a:ext>
              </a:extLst>
            </p:cNvPr>
            <p:cNvSpPr/>
            <p:nvPr userDrawn="1"/>
          </p:nvSpPr>
          <p:spPr>
            <a:xfrm>
              <a:off x="3702376" y="3248308"/>
              <a:ext cx="51388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  <p:cxnSp>
        <p:nvCxnSpPr>
          <p:cNvPr id="17" name="Conector drept 16">
            <a:extLst>
              <a:ext uri="{FF2B5EF4-FFF2-40B4-BE49-F238E27FC236}">
                <a16:creationId xmlns:a16="http://schemas.microsoft.com/office/drawing/2014/main" id="{6150998C-CF95-4C6F-8962-8EB2DB30177D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F86A2ACD-8CF5-48A3-A678-E213A809B332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9" name="Conector drept 18">
            <a:extLst>
              <a:ext uri="{FF2B5EF4-FFF2-40B4-BE49-F238E27FC236}">
                <a16:creationId xmlns:a16="http://schemas.microsoft.com/office/drawing/2014/main" id="{F00811BB-0E37-4D70-84A5-97B3FBEDCBE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3B3046-0457-4D23-8E0C-64E3FCD620BB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3" name="Substituent text 2">
            <a:extLst>
              <a:ext uri="{FF2B5EF4-FFF2-40B4-BE49-F238E27FC236}">
                <a16:creationId xmlns:a16="http://schemas.microsoft.com/office/drawing/2014/main" id="{ABD2EF23-562D-4049-92E3-48371C9E83A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098826" y="3335524"/>
            <a:ext cx="5311245" cy="2248846"/>
          </a:xfrm>
        </p:spPr>
        <p:txBody>
          <a:bodyPr lIns="0" tIns="0" rIns="0" bIns="0" rtlCol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o-RO" noProof="0" dirty="0"/>
              <a:t>Editați stilurile de text coordonator</a:t>
            </a:r>
          </a:p>
        </p:txBody>
      </p:sp>
      <p:sp>
        <p:nvSpPr>
          <p:cNvPr id="3" name="Dreptunghi 2">
            <a:extLst>
              <a:ext uri="{FF2B5EF4-FFF2-40B4-BE49-F238E27FC236}">
                <a16:creationId xmlns:a16="http://schemas.microsoft.com/office/drawing/2014/main" id="{496B07E0-C579-4C5F-9AD4-6AF791562924}"/>
              </a:ext>
            </a:extLst>
          </p:cNvPr>
          <p:cNvSpPr/>
          <p:nvPr userDrawn="1"/>
        </p:nvSpPr>
        <p:spPr>
          <a:xfrm>
            <a:off x="963549" y="1819285"/>
            <a:ext cx="4306824" cy="3648456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95" b="-19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1" name="Substituent imagine 2">
            <a:extLst>
              <a:ext uri="{FF2B5EF4-FFF2-40B4-BE49-F238E27FC236}">
                <a16:creationId xmlns:a16="http://schemas.microsoft.com/office/drawing/2014/main" id="{D5639F99-011E-49CF-8ABD-A4DB4439FB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15505" y="1976894"/>
            <a:ext cx="1819656" cy="3108960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2" name="Substituent imagine 2">
            <a:extLst>
              <a:ext uri="{FF2B5EF4-FFF2-40B4-BE49-F238E27FC236}">
                <a16:creationId xmlns:a16="http://schemas.microsoft.com/office/drawing/2014/main" id="{028483B2-B562-448D-AEE1-556BC9366BB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102188" y="3517926"/>
            <a:ext cx="2057400" cy="1819656"/>
          </a:xfrm>
          <a:ln w="25400">
            <a:solidFill>
              <a:schemeClr val="tx2"/>
            </a:solidFill>
          </a:ln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195763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reptunghi 34">
            <a:extLst>
              <a:ext uri="{FF2B5EF4-FFF2-40B4-BE49-F238E27FC236}">
                <a16:creationId xmlns:a16="http://schemas.microsoft.com/office/drawing/2014/main" id="{42737603-04DB-411C-B2D9-BDFF9AEE89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1" name="Substituent text 3">
            <a:extLst>
              <a:ext uri="{FF2B5EF4-FFF2-40B4-BE49-F238E27FC236}">
                <a16:creationId xmlns:a16="http://schemas.microsoft.com/office/drawing/2014/main" id="{605A03A4-E79C-49C5-A546-FF8E2D42E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3319" y="3054194"/>
            <a:ext cx="1645920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22" name="Substituent text 3">
            <a:extLst>
              <a:ext uri="{FF2B5EF4-FFF2-40B4-BE49-F238E27FC236}">
                <a16:creationId xmlns:a16="http://schemas.microsoft.com/office/drawing/2014/main" id="{9EA27EF7-FC6B-496C-B737-B9219950367E}"/>
              </a:ext>
            </a:extLst>
          </p:cNvPr>
          <p:cNvSpPr>
            <a:spLocks noGrp="1"/>
          </p:cNvSpPr>
          <p:nvPr>
            <p:ph type="body" sz="half" idx="34" hasCustomPrompt="1"/>
          </p:nvPr>
        </p:nvSpPr>
        <p:spPr>
          <a:xfrm>
            <a:off x="1384584" y="2023761"/>
            <a:ext cx="2469965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23" name="Substituent text 3">
            <a:extLst>
              <a:ext uri="{FF2B5EF4-FFF2-40B4-BE49-F238E27FC236}">
                <a16:creationId xmlns:a16="http://schemas.microsoft.com/office/drawing/2014/main" id="{6C0E2C30-6E91-49DE-B7A1-6E32A19EC81D}"/>
              </a:ext>
            </a:extLst>
          </p:cNvPr>
          <p:cNvSpPr>
            <a:spLocks noGrp="1"/>
          </p:cNvSpPr>
          <p:nvPr>
            <p:ph type="body" sz="half" idx="36"/>
          </p:nvPr>
        </p:nvSpPr>
        <p:spPr>
          <a:xfrm>
            <a:off x="2596444" y="3054194"/>
            <a:ext cx="138988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24" name="Substituent imagine 12">
            <a:extLst>
              <a:ext uri="{FF2B5EF4-FFF2-40B4-BE49-F238E27FC236}">
                <a16:creationId xmlns:a16="http://schemas.microsoft.com/office/drawing/2014/main" id="{70BE5E73-C067-492F-BE30-5E3DADAD40E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75852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5" name="Substituent imagine 12">
            <a:extLst>
              <a:ext uri="{FF2B5EF4-FFF2-40B4-BE49-F238E27FC236}">
                <a16:creationId xmlns:a16="http://schemas.microsoft.com/office/drawing/2014/main" id="{36A9B448-4FDC-41F7-941E-5BF5A129057A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499831" y="3731781"/>
            <a:ext cx="1636776" cy="161848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6" name="Substituent text 3">
            <a:extLst>
              <a:ext uri="{FF2B5EF4-FFF2-40B4-BE49-F238E27FC236}">
                <a16:creationId xmlns:a16="http://schemas.microsoft.com/office/drawing/2014/main" id="{90B3A413-8776-4B3B-931F-C132DAB3A425}"/>
              </a:ext>
            </a:extLst>
          </p:cNvPr>
          <p:cNvSpPr>
            <a:spLocks noGrp="1"/>
          </p:cNvSpPr>
          <p:nvPr>
            <p:ph type="body" sz="half" idx="39"/>
          </p:nvPr>
        </p:nvSpPr>
        <p:spPr>
          <a:xfrm>
            <a:off x="4940427" y="3054194"/>
            <a:ext cx="2113508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27" name="Substituent text 3">
            <a:extLst>
              <a:ext uri="{FF2B5EF4-FFF2-40B4-BE49-F238E27FC236}">
                <a16:creationId xmlns:a16="http://schemas.microsoft.com/office/drawing/2014/main" id="{BAD0CCD5-B712-4DB2-BFE3-4D3461B29F6D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5494328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28" name="Substituent imagine 12">
            <a:extLst>
              <a:ext uri="{FF2B5EF4-FFF2-40B4-BE49-F238E27FC236}">
                <a16:creationId xmlns:a16="http://schemas.microsoft.com/office/drawing/2014/main" id="{64125935-B0D3-4ABD-9BBA-A60E46D2C55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946407" y="3731781"/>
            <a:ext cx="2048256" cy="896112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sp>
        <p:nvSpPr>
          <p:cNvPr id="29" name="Substituent text 3">
            <a:extLst>
              <a:ext uri="{FF2B5EF4-FFF2-40B4-BE49-F238E27FC236}">
                <a16:creationId xmlns:a16="http://schemas.microsoft.com/office/drawing/2014/main" id="{47D3BA4D-FA26-44C8-B927-E42CC8E67B79}"/>
              </a:ext>
            </a:extLst>
          </p:cNvPr>
          <p:cNvSpPr>
            <a:spLocks noGrp="1"/>
          </p:cNvSpPr>
          <p:nvPr>
            <p:ph type="body" sz="half" idx="45"/>
          </p:nvPr>
        </p:nvSpPr>
        <p:spPr>
          <a:xfrm>
            <a:off x="7900319" y="3054194"/>
            <a:ext cx="2197045" cy="618756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0" name="Substituent text 3">
            <a:extLst>
              <a:ext uri="{FF2B5EF4-FFF2-40B4-BE49-F238E27FC236}">
                <a16:creationId xmlns:a16="http://schemas.microsoft.com/office/drawing/2014/main" id="{2D2A84D7-2523-470B-A3C0-0140355D4F68}"/>
              </a:ext>
            </a:extLst>
          </p:cNvPr>
          <p:cNvSpPr>
            <a:spLocks noGrp="1"/>
          </p:cNvSpPr>
          <p:nvPr>
            <p:ph type="body" sz="half" idx="46" hasCustomPrompt="1"/>
          </p:nvPr>
        </p:nvSpPr>
        <p:spPr>
          <a:xfrm>
            <a:off x="8454220" y="2023761"/>
            <a:ext cx="1943702" cy="982274"/>
          </a:xfrm>
        </p:spPr>
        <p:txBody>
          <a:bodyPr lIns="0" rIns="0" bIns="0" rtlCol="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lang="en-US" sz="2000" b="1" kern="1200" dirty="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 dirty="0"/>
              <a:t>Stiluri text coordonator</a:t>
            </a:r>
            <a:br>
              <a:rPr lang="ro-RO" noProof="0" dirty="0"/>
            </a:br>
            <a:r>
              <a:rPr lang="ro-RO" noProof="0" dirty="0"/>
              <a:t> </a:t>
            </a:r>
          </a:p>
        </p:txBody>
      </p:sp>
      <p:sp>
        <p:nvSpPr>
          <p:cNvPr id="32" name="Substituent text 3">
            <a:extLst>
              <a:ext uri="{FF2B5EF4-FFF2-40B4-BE49-F238E27FC236}">
                <a16:creationId xmlns:a16="http://schemas.microsoft.com/office/drawing/2014/main" id="{55D1A91B-BB99-4DC7-B8F5-55514B49A9D1}"/>
              </a:ext>
            </a:extLst>
          </p:cNvPr>
          <p:cNvSpPr>
            <a:spLocks noGrp="1"/>
          </p:cNvSpPr>
          <p:nvPr>
            <p:ph type="body" sz="half" idx="49"/>
          </p:nvPr>
        </p:nvSpPr>
        <p:spPr>
          <a:xfrm>
            <a:off x="7900319" y="4671712"/>
            <a:ext cx="2223939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3" name="Substituent text 3">
            <a:extLst>
              <a:ext uri="{FF2B5EF4-FFF2-40B4-BE49-F238E27FC236}">
                <a16:creationId xmlns:a16="http://schemas.microsoft.com/office/drawing/2014/main" id="{FFAB2C75-BBBF-4A4D-A633-7CEFFABAFE32}"/>
              </a:ext>
            </a:extLst>
          </p:cNvPr>
          <p:cNvSpPr>
            <a:spLocks noGrp="1"/>
          </p:cNvSpPr>
          <p:nvPr>
            <p:ph type="body" sz="half" idx="51"/>
          </p:nvPr>
        </p:nvSpPr>
        <p:spPr>
          <a:xfrm>
            <a:off x="4940427" y="4830765"/>
            <a:ext cx="2048256" cy="519503"/>
          </a:xfrm>
        </p:spPr>
        <p:txBody>
          <a:bodyPr lIns="0" tIns="0" rIns="0" bIns="0" rtlCol="0"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o-RO" noProof="0"/>
              <a:t>Faceţi clic pentru a edita Master stiluri text</a:t>
            </a:r>
          </a:p>
        </p:txBody>
      </p:sp>
      <p:sp>
        <p:nvSpPr>
          <p:cNvPr id="34" name="Substituent text 7">
            <a:extLst>
              <a:ext uri="{FF2B5EF4-FFF2-40B4-BE49-F238E27FC236}">
                <a16:creationId xmlns:a16="http://schemas.microsoft.com/office/drawing/2014/main" id="{83CD3289-0FBC-4854-8EB2-ADD41F89CA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3358" y="202341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sz="7000" b="1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o-RO" noProof="0" dirty="0"/>
              <a:t>1</a:t>
            </a:r>
          </a:p>
        </p:txBody>
      </p:sp>
      <p:sp>
        <p:nvSpPr>
          <p:cNvPr id="36" name="Substituent text 7">
            <a:extLst>
              <a:ext uri="{FF2B5EF4-FFF2-40B4-BE49-F238E27FC236}">
                <a16:creationId xmlns:a16="http://schemas.microsoft.com/office/drawing/2014/main" id="{2F18CD59-6602-4DEC-9B12-412E6BAF928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912823" y="1999493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1</a:t>
            </a:r>
          </a:p>
        </p:txBody>
      </p:sp>
      <p:sp>
        <p:nvSpPr>
          <p:cNvPr id="37" name="Substituent text 7">
            <a:extLst>
              <a:ext uri="{FF2B5EF4-FFF2-40B4-BE49-F238E27FC236}">
                <a16:creationId xmlns:a16="http://schemas.microsoft.com/office/drawing/2014/main" id="{88B09568-0B94-4B51-BE65-A72C65C3D7D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873424" y="2002966"/>
            <a:ext cx="558402" cy="896112"/>
          </a:xfrm>
        </p:spPr>
        <p:txBody>
          <a:bodyPr lIns="0" tIns="0" rIns="0" bIns="0" rtlCol="0">
            <a:noAutofit/>
          </a:bodyPr>
          <a:lstStyle>
            <a:lvl1pPr marL="0" indent="0" algn="l">
              <a:buNone/>
              <a:defRPr lang="ru-RU" sz="7000" b="1" kern="1200" dirty="0">
                <a:ln>
                  <a:solidFill>
                    <a:schemeClr val="tx1"/>
                  </a:solidFill>
                </a:ln>
                <a:noFill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o-RO" noProof="0" dirty="0"/>
              <a:t>1</a:t>
            </a:r>
          </a:p>
        </p:txBody>
      </p:sp>
      <p:sp>
        <p:nvSpPr>
          <p:cNvPr id="40" name="Substituent text 3">
            <a:extLst>
              <a:ext uri="{FF2B5EF4-FFF2-40B4-BE49-F238E27FC236}">
                <a16:creationId xmlns:a16="http://schemas.microsoft.com/office/drawing/2014/main" id="{315834F5-9ACD-4898-B96E-8C732881FF01}"/>
              </a:ext>
            </a:extLst>
          </p:cNvPr>
          <p:cNvSpPr>
            <a:spLocks noGrp="1"/>
          </p:cNvSpPr>
          <p:nvPr>
            <p:ph type="body" sz="half" idx="50"/>
          </p:nvPr>
        </p:nvSpPr>
        <p:spPr>
          <a:xfrm>
            <a:off x="2359124" y="5706529"/>
            <a:ext cx="8993089" cy="365122"/>
          </a:xfrm>
        </p:spPr>
        <p:txBody>
          <a:bodyPr lIns="0" tIns="0" rIns="0" bIns="0" rtlCol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en-US" sz="1400" i="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38" name="Titlu 1">
            <a:extLst>
              <a:ext uri="{FF2B5EF4-FFF2-40B4-BE49-F238E27FC236}">
                <a16:creationId xmlns:a16="http://schemas.microsoft.com/office/drawing/2014/main" id="{7E5CF6DE-4761-4BA5-A429-30AC8BBAD4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9" y="780001"/>
            <a:ext cx="10512424" cy="606677"/>
          </a:xfrm>
        </p:spPr>
        <p:txBody>
          <a:bodyPr lIns="0" tIns="0" rIns="0" bIns="0" rtlCol="0" anchor="t" anchorCtr="0">
            <a:normAutofit/>
          </a:bodyPr>
          <a:lstStyle>
            <a:lvl1pPr marL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b="1" kern="1200" dirty="0">
                <a:solidFill>
                  <a:schemeClr val="bg2"/>
                </a:solidFill>
                <a:latin typeface="Tahoma" panose="020B060403050404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o-RO" noProof="0" dirty="0"/>
              <a:t>CUM SĂ UTILIZAȚI ACEST ȘABLON</a:t>
            </a:r>
          </a:p>
        </p:txBody>
      </p:sp>
      <p:sp>
        <p:nvSpPr>
          <p:cNvPr id="41" name="Substituent imagine 9">
            <a:extLst>
              <a:ext uri="{FF2B5EF4-FFF2-40B4-BE49-F238E27FC236}">
                <a16:creationId xmlns:a16="http://schemas.microsoft.com/office/drawing/2014/main" id="{8A4896B5-1C5E-47F0-8F0C-4EF97E356C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00319" y="3779907"/>
            <a:ext cx="1481328" cy="758952"/>
          </a:xfrm>
        </p:spPr>
        <p:txBody>
          <a:bodyPr rtlCol="0" anchor="ctr" anchorCtr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  <p:grpSp>
        <p:nvGrpSpPr>
          <p:cNvPr id="31" name="Grup 30">
            <a:extLst>
              <a:ext uri="{FF2B5EF4-FFF2-40B4-BE49-F238E27FC236}">
                <a16:creationId xmlns:a16="http://schemas.microsoft.com/office/drawing/2014/main" id="{D87F4783-C8BA-411C-A188-4A4DAED10C02}"/>
              </a:ext>
            </a:extLst>
          </p:cNvPr>
          <p:cNvGrpSpPr/>
          <p:nvPr userDrawn="1"/>
        </p:nvGrpSpPr>
        <p:grpSpPr>
          <a:xfrm flipH="1">
            <a:off x="4416000" y="1375202"/>
            <a:ext cx="7776000" cy="100800"/>
            <a:chOff x="-322289" y="3240138"/>
            <a:chExt cx="5070122" cy="100800"/>
          </a:xfrm>
        </p:grpSpPr>
        <p:cxnSp>
          <p:nvCxnSpPr>
            <p:cNvPr id="39" name="Conector drept 38">
              <a:extLst>
                <a:ext uri="{FF2B5EF4-FFF2-40B4-BE49-F238E27FC236}">
                  <a16:creationId xmlns:a16="http://schemas.microsoft.com/office/drawing/2014/main" id="{959A2713-966D-4694-A067-D6BE1B2986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322289" y="3290538"/>
              <a:ext cx="5070122" cy="0"/>
            </a:xfrm>
            <a:prstGeom prst="line">
              <a:avLst/>
            </a:prstGeom>
            <a:ln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CA15F19-C2FE-4F13-9359-69E884CA83B9}"/>
                </a:ext>
              </a:extLst>
            </p:cNvPr>
            <p:cNvSpPr/>
            <p:nvPr userDrawn="1"/>
          </p:nvSpPr>
          <p:spPr>
            <a:xfrm>
              <a:off x="4682109" y="3240138"/>
              <a:ext cx="65724" cy="100800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3253577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reptunghi 7">
            <a:extLst>
              <a:ext uri="{FF2B5EF4-FFF2-40B4-BE49-F238E27FC236}">
                <a16:creationId xmlns:a16="http://schemas.microsoft.com/office/drawing/2014/main" id="{278196A9-689D-4410-BFC0-7ACB19755A0C}"/>
              </a:ext>
            </a:extLst>
          </p:cNvPr>
          <p:cNvSpPr/>
          <p:nvPr userDrawn="1"/>
        </p:nvSpPr>
        <p:spPr>
          <a:xfrm>
            <a:off x="0" y="0"/>
            <a:ext cx="12192000" cy="4416552"/>
          </a:xfrm>
          <a:prstGeom prst="rect">
            <a:avLst/>
          </a:prstGeom>
          <a:blipFill>
            <a:blip r:embed="rId2"/>
            <a:srcRect/>
            <a:stretch>
              <a:fillRect l="-842" r="-84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129BFEAD-57CF-438A-8084-C5AC7F47E5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62986"/>
            <a:ext cx="9144000" cy="1786094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E17A3CB-B083-4E49-9123-A5E47559D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8C4102C-4609-416C-A808-0FFE0051D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D7BCC5D-6F2C-472F-BD4C-4096793D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7BE854BB-FA44-4CAB-85DF-F5C412560348}"/>
              </a:ext>
            </a:extLst>
          </p:cNvPr>
          <p:cNvSpPr/>
          <p:nvPr userDrawn="1"/>
        </p:nvSpPr>
        <p:spPr>
          <a:xfrm>
            <a:off x="0" y="4416552"/>
            <a:ext cx="12192000" cy="2441448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389BFFF1-5465-4317-B9DB-C23A5B1D7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34696"/>
            <a:ext cx="9144000" cy="459798"/>
          </a:xfrm>
        </p:spPr>
        <p:txBody>
          <a:bodyPr lIns="0" tIns="0" rIns="0" bIns="0"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676B4374-8F24-43DE-860D-E5C6EA850AB4}"/>
              </a:ext>
            </a:extLst>
          </p:cNvPr>
          <p:cNvGrpSpPr/>
          <p:nvPr userDrawn="1"/>
        </p:nvGrpSpPr>
        <p:grpSpPr>
          <a:xfrm>
            <a:off x="3619265" y="2253996"/>
            <a:ext cx="4953471" cy="100584"/>
            <a:chOff x="3631692" y="2253996"/>
            <a:chExt cx="4953471" cy="100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85C7755-9394-4129-AB48-1AC32DA80C75}"/>
                </a:ext>
              </a:extLst>
            </p:cNvPr>
            <p:cNvSpPr/>
            <p:nvPr userDrawn="1"/>
          </p:nvSpPr>
          <p:spPr>
            <a:xfrm>
              <a:off x="3631692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3" name="Conector drept 12">
              <a:extLst>
                <a:ext uri="{FF2B5EF4-FFF2-40B4-BE49-F238E27FC236}">
                  <a16:creationId xmlns:a16="http://schemas.microsoft.com/office/drawing/2014/main" id="{64C71ABE-575A-48CF-82B1-EDE8535F3993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C1EA63-78B2-4715-B4DC-63D98AC7F354}"/>
                </a:ext>
              </a:extLst>
            </p:cNvPr>
            <p:cNvSpPr/>
            <p:nvPr userDrawn="1"/>
          </p:nvSpPr>
          <p:spPr>
            <a:xfrm>
              <a:off x="8484579" y="2253996"/>
              <a:ext cx="100584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6" name="Grup 15">
            <a:extLst>
              <a:ext uri="{FF2B5EF4-FFF2-40B4-BE49-F238E27FC236}">
                <a16:creationId xmlns:a16="http://schemas.microsoft.com/office/drawing/2014/main" id="{E9BB74A1-0BEA-4AD8-8138-0641A45D8B40}"/>
              </a:ext>
            </a:extLst>
          </p:cNvPr>
          <p:cNvGrpSpPr/>
          <p:nvPr userDrawn="1"/>
        </p:nvGrpSpPr>
        <p:grpSpPr>
          <a:xfrm>
            <a:off x="4652581" y="5305363"/>
            <a:ext cx="2886839" cy="100584"/>
            <a:chOff x="3631690" y="2253996"/>
            <a:chExt cx="5028467" cy="10058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D0026E-5270-4C52-A1AF-5631E8192DCD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8" name="Conector drept 17">
              <a:extLst>
                <a:ext uri="{FF2B5EF4-FFF2-40B4-BE49-F238E27FC236}">
                  <a16:creationId xmlns:a16="http://schemas.microsoft.com/office/drawing/2014/main" id="{A6085D92-5F70-4097-A2FF-C15B13788D0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828032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E68EB6C-48D0-4EBF-8541-926D16790F52}"/>
                </a:ext>
              </a:extLst>
            </p:cNvPr>
            <p:cNvSpPr/>
            <p:nvPr userDrawn="1"/>
          </p:nvSpPr>
          <p:spPr>
            <a:xfrm>
              <a:off x="8484578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641896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45015858-8549-49EA-BB83-070E0D9D4890}"/>
              </a:ext>
            </a:extLst>
          </p:cNvPr>
          <p:cNvSpPr/>
          <p:nvPr userDrawn="1"/>
        </p:nvSpPr>
        <p:spPr>
          <a:xfrm>
            <a:off x="6083808" y="0"/>
            <a:ext cx="6108192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2206FBAC-B8FD-4768-B682-E0B93BA33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9768" y="2133599"/>
            <a:ext cx="4618957" cy="2492461"/>
          </a:xfrm>
        </p:spPr>
        <p:txBody>
          <a:bodyPr lIns="0" tIns="0" rIns="0" bIns="0" rtlCol="0" anchor="b" anchorCtr="0">
            <a:noAutofit/>
          </a:bodyPr>
          <a:lstStyle>
            <a:lvl1pPr>
              <a:defRPr sz="6000"/>
            </a:lvl1pPr>
          </a:lstStyle>
          <a:p>
            <a:pPr rtl="0"/>
            <a:r>
              <a:rPr lang="ro-RO" noProof="0" dirty="0"/>
              <a:t>PREZENTARE</a:t>
            </a:r>
            <a:br>
              <a:rPr lang="ro-RO" noProof="0" dirty="0"/>
            </a:br>
            <a:r>
              <a:rPr lang="ro-RO" noProof="0" dirty="0"/>
              <a:t>TITLU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472534F-03A6-408A-9BF1-303D0A44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4E181-0C50-4F43-A5A7-6FDD1500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3A749CC-EB55-4FEF-AA4C-9A9C6E2A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t>‹#›</a:t>
            </a:fld>
            <a:endParaRPr lang="ro-RO" noProof="0" dirty="0"/>
          </a:p>
        </p:txBody>
      </p:sp>
      <p:grpSp>
        <p:nvGrpSpPr>
          <p:cNvPr id="9" name="Grup 8">
            <a:extLst>
              <a:ext uri="{FF2B5EF4-FFF2-40B4-BE49-F238E27FC236}">
                <a16:creationId xmlns:a16="http://schemas.microsoft.com/office/drawing/2014/main" id="{6F3E26A6-6962-4A35-AA86-805537D45296}"/>
              </a:ext>
            </a:extLst>
          </p:cNvPr>
          <p:cNvGrpSpPr/>
          <p:nvPr userDrawn="1"/>
        </p:nvGrpSpPr>
        <p:grpSpPr>
          <a:xfrm>
            <a:off x="6769768" y="1947412"/>
            <a:ext cx="2520148" cy="102440"/>
            <a:chOff x="3631690" y="2252140"/>
            <a:chExt cx="4389743" cy="1024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1504C4-12AC-4251-8E47-0089784BDB9B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1" name="Conector drept 10">
              <a:extLst>
                <a:ext uri="{FF2B5EF4-FFF2-40B4-BE49-F238E27FC236}">
                  <a16:creationId xmlns:a16="http://schemas.microsoft.com/office/drawing/2014/main" id="{192040D0-01C2-4643-8F84-3B8F334E545C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5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ED601E9-2BFC-460B-A2A8-69A787A4988E}"/>
                </a:ext>
              </a:extLst>
            </p:cNvPr>
            <p:cNvSpPr/>
            <p:nvPr userDrawn="1"/>
          </p:nvSpPr>
          <p:spPr>
            <a:xfrm>
              <a:off x="7845854" y="2252140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grpSp>
        <p:nvGrpSpPr>
          <p:cNvPr id="13" name="Grup 12">
            <a:extLst>
              <a:ext uri="{FF2B5EF4-FFF2-40B4-BE49-F238E27FC236}">
                <a16:creationId xmlns:a16="http://schemas.microsoft.com/office/drawing/2014/main" id="{BB49A8A6-FEDB-4D20-B581-A84DB8EFE977}"/>
              </a:ext>
            </a:extLst>
          </p:cNvPr>
          <p:cNvGrpSpPr/>
          <p:nvPr userDrawn="1"/>
        </p:nvGrpSpPr>
        <p:grpSpPr>
          <a:xfrm>
            <a:off x="6769768" y="4654084"/>
            <a:ext cx="2520148" cy="100584"/>
            <a:chOff x="3631690" y="2253996"/>
            <a:chExt cx="4389742" cy="10058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F65998-5EC3-446A-8307-1CF81A348CE3}"/>
                </a:ext>
              </a:extLst>
            </p:cNvPr>
            <p:cNvSpPr/>
            <p:nvPr userDrawn="1"/>
          </p:nvSpPr>
          <p:spPr>
            <a:xfrm>
              <a:off x="3631690" y="2253996"/>
              <a:ext cx="175203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  <p:cxnSp>
          <p:nvCxnSpPr>
            <p:cNvPr id="15" name="Conector drept 14">
              <a:extLst>
                <a:ext uri="{FF2B5EF4-FFF2-40B4-BE49-F238E27FC236}">
                  <a16:creationId xmlns:a16="http://schemas.microsoft.com/office/drawing/2014/main" id="{7CC5D776-F60A-4A0C-AA7C-EFACDA2CEA88}"/>
                </a:ext>
              </a:extLst>
            </p:cNvPr>
            <p:cNvCxnSpPr/>
            <p:nvPr userDrawn="1"/>
          </p:nvCxnSpPr>
          <p:spPr>
            <a:xfrm>
              <a:off x="3681984" y="2307679"/>
              <a:ext cx="4201364" cy="0"/>
            </a:xfrm>
            <a:prstGeom prst="line">
              <a:avLst/>
            </a:prstGeom>
            <a:ln w="12700">
              <a:solidFill>
                <a:schemeClr val="bg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EAFE309-55C5-409C-92ED-748307C74318}"/>
                </a:ext>
              </a:extLst>
            </p:cNvPr>
            <p:cNvSpPr/>
            <p:nvPr userDrawn="1"/>
          </p:nvSpPr>
          <p:spPr>
            <a:xfrm>
              <a:off x="7845853" y="2253996"/>
              <a:ext cx="175579" cy="100584"/>
            </a:xfrm>
            <a:prstGeom prst="ellipse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o-RO" noProof="0" dirty="0"/>
            </a:p>
          </p:txBody>
        </p:sp>
      </p:grpSp>
      <p:sp>
        <p:nvSpPr>
          <p:cNvPr id="17" name="Subtitlu 2">
            <a:extLst>
              <a:ext uri="{FF2B5EF4-FFF2-40B4-BE49-F238E27FC236}">
                <a16:creationId xmlns:a16="http://schemas.microsoft.com/office/drawing/2014/main" id="{5B77B20B-76F5-4912-803D-5709F730D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889444"/>
            <a:ext cx="4618957" cy="590626"/>
          </a:xfrm>
        </p:spPr>
        <p:txBody>
          <a:bodyPr lIns="0" tIns="0" rIns="0" bIns="0" rtlCol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>
                <a:latin typeface="+mn-lt"/>
                <a:cs typeface="Segoe UI Semibold" panose="020B07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o-RO" noProof="0"/>
              <a:t>Faceți clic pentru a edita stilul de subtitlu coordonator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791958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6" name="Substituent conținut 2">
            <a:extLst>
              <a:ext uri="{FF2B5EF4-FFF2-40B4-BE49-F238E27FC236}">
                <a16:creationId xmlns:a16="http://schemas.microsoft.com/office/drawing/2014/main" id="{DEA943F6-C418-4339-8C7E-A12127B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777"/>
            <a:ext cx="10515600" cy="4534293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784468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reptunghi 8">
            <a:extLst>
              <a:ext uri="{FF2B5EF4-FFF2-40B4-BE49-F238E27FC236}">
                <a16:creationId xmlns:a16="http://schemas.microsoft.com/office/drawing/2014/main" id="{8B6FE9A2-5CE4-4652-97CE-3FF947D5485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Substituent conținut 2">
            <a:extLst>
              <a:ext uri="{FF2B5EF4-FFF2-40B4-BE49-F238E27FC236}">
                <a16:creationId xmlns:a16="http://schemas.microsoft.com/office/drawing/2014/main" id="{3FD6D4E1-CC57-4556-9CB7-31B375477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8" name="Substituent conținut 3">
            <a:extLst>
              <a:ext uri="{FF2B5EF4-FFF2-40B4-BE49-F238E27FC236}">
                <a16:creationId xmlns:a16="http://schemas.microsoft.com/office/drawing/2014/main" id="{2AE7A31C-D605-4363-B037-1938B9304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59497"/>
            <a:ext cx="5181600" cy="4543719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849159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reptunghi 10">
            <a:extLst>
              <a:ext uri="{FF2B5EF4-FFF2-40B4-BE49-F238E27FC236}">
                <a16:creationId xmlns:a16="http://schemas.microsoft.com/office/drawing/2014/main" id="{A4B5E40D-C1A5-4C5A-BBA0-C3E41F028D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Substituent text 2">
            <a:extLst>
              <a:ext uri="{FF2B5EF4-FFF2-40B4-BE49-F238E27FC236}">
                <a16:creationId xmlns:a16="http://schemas.microsoft.com/office/drawing/2014/main" id="{85C650EE-495E-44EB-870B-AC85B18EB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56955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8" name="Substituent conținut 3">
            <a:extLst>
              <a:ext uri="{FF2B5EF4-FFF2-40B4-BE49-F238E27FC236}">
                <a16:creationId xmlns:a16="http://schemas.microsoft.com/office/drawing/2014/main" id="{77DCC2A5-8A6A-431F-BD6C-93E32539A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03414"/>
            <a:ext cx="5157787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  <p:sp>
        <p:nvSpPr>
          <p:cNvPr id="9" name="Substituent text 4">
            <a:extLst>
              <a:ext uri="{FF2B5EF4-FFF2-40B4-BE49-F238E27FC236}">
                <a16:creationId xmlns:a16="http://schemas.microsoft.com/office/drawing/2014/main" id="{7FE620E9-8AD3-4771-8897-E65B461E2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256955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Tahoma" panose="020B060403050404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0" name="Substituent conținut 5">
            <a:extLst>
              <a:ext uri="{FF2B5EF4-FFF2-40B4-BE49-F238E27FC236}">
                <a16:creationId xmlns:a16="http://schemas.microsoft.com/office/drawing/2014/main" id="{B75F265B-9F81-4A64-A8D4-7D0A31CEA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03414"/>
            <a:ext cx="5183188" cy="3397631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bg2"/>
                </a:solidFill>
              </a:defRPr>
            </a:lvl2pPr>
            <a:lvl3pPr>
              <a:defRPr sz="1600">
                <a:solidFill>
                  <a:schemeClr val="bg2"/>
                </a:solidFill>
              </a:defRPr>
            </a:lvl3pPr>
            <a:lvl4pPr>
              <a:defRPr sz="14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40803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0" name="Substituent conținut 2">
            <a:extLst>
              <a:ext uri="{FF2B5EF4-FFF2-40B4-BE49-F238E27FC236}">
                <a16:creationId xmlns:a16="http://schemas.microsoft.com/office/drawing/2014/main" id="{3AE79E65-3D1E-4444-9BD4-8578BF0C6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600">
                <a:solidFill>
                  <a:schemeClr val="bg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  <a:p>
            <a:pPr lvl="1" rtl="0"/>
            <a:r>
              <a:rPr lang="ro-RO" noProof="0"/>
              <a:t>al doilea nivel</a:t>
            </a:r>
          </a:p>
          <a:p>
            <a:pPr lvl="2" rtl="0"/>
            <a:r>
              <a:rPr lang="ro-RO" noProof="0"/>
              <a:t>al treilea nivel</a:t>
            </a:r>
          </a:p>
          <a:p>
            <a:pPr lvl="3" rtl="0"/>
            <a:r>
              <a:rPr lang="ro-RO" noProof="0"/>
              <a:t>al patrulea nivel</a:t>
            </a:r>
          </a:p>
          <a:p>
            <a:pPr lvl="4" rtl="0"/>
            <a:r>
              <a:rPr lang="ro-RO" noProof="0"/>
              <a:t>al cincilea nivel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1279995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A16E3F0B-343E-4C97-A8D6-C47FCC915F7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8" name="Titlu 1">
            <a:extLst>
              <a:ext uri="{FF2B5EF4-FFF2-40B4-BE49-F238E27FC236}">
                <a16:creationId xmlns:a16="http://schemas.microsoft.com/office/drawing/2014/main" id="{8A02905C-2C7D-4445-B47F-3EBBA446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9" name="Substituent text 3">
            <a:extLst>
              <a:ext uri="{FF2B5EF4-FFF2-40B4-BE49-F238E27FC236}">
                <a16:creationId xmlns:a16="http://schemas.microsoft.com/office/drawing/2014/main" id="{17BC8A51-D50F-4F98-9402-8FF90BD2D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o-RO" noProof="0"/>
              <a:t>Faceţi clic pentru a edita Master stiluri text</a:t>
            </a:r>
          </a:p>
        </p:txBody>
      </p:sp>
      <p:sp>
        <p:nvSpPr>
          <p:cNvPr id="11" name="Substituent imagine 2">
            <a:extLst>
              <a:ext uri="{FF2B5EF4-FFF2-40B4-BE49-F238E27FC236}">
                <a16:creationId xmlns:a16="http://schemas.microsoft.com/office/drawing/2014/main" id="{1D23A006-AC57-4A0B-BC20-6D226A80C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o-RO" noProof="0"/>
              <a:t>Faceți clic pe pictogramă pentru a adăuga o imagine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5853051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reptunghi 6">
            <a:extLst>
              <a:ext uri="{FF2B5EF4-FFF2-40B4-BE49-F238E27FC236}">
                <a16:creationId xmlns:a16="http://schemas.microsoft.com/office/drawing/2014/main" id="{9F05564D-C546-470F-B93C-274AA86CE0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7215E379-3C1C-4942-917E-02E25E8C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969"/>
          </a:xfrm>
        </p:spPr>
        <p:txBody>
          <a:bodyPr rtlCol="0"/>
          <a:lstStyle/>
          <a:p>
            <a:pPr rtl="0"/>
            <a:r>
              <a:rPr lang="ro-RO" noProof="0"/>
              <a:t>Faceți clic pentru a edita stilul de titlu coordonator</a:t>
            </a:r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8839916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reptunghi 5">
            <a:extLst>
              <a:ext uri="{FF2B5EF4-FFF2-40B4-BE49-F238E27FC236}">
                <a16:creationId xmlns:a16="http://schemas.microsoft.com/office/drawing/2014/main" id="{D9E60A5F-CE74-4F00-A5C2-F9742DDFFF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4000">
                <a:srgbClr val="0F1722"/>
              </a:gs>
              <a:gs pos="69000">
                <a:srgbClr val="0F1722"/>
              </a:gs>
              <a:gs pos="100000">
                <a:schemeClr val="accent5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046047C4-77C4-4E19-8DD7-2ED3165B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D250B5CF-1C4F-4BA2-8E78-5F48C92A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714C6A0A-8A9D-47A1-97DA-BB49491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23171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6967058B-89E0-4460-AB21-21747CB3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201C5EB-04D6-4050-930C-5F6907528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Editați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A732220F-109C-4A57-81E9-C6279EDA1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6836" y="5878720"/>
            <a:ext cx="1336964" cy="298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o-RO" noProof="0" dirty="0"/>
              <a:t>DD.MM.20XX</a:t>
            </a:r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A25404F-F26F-42E5-BA15-C0373FC1C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69960" y="5878720"/>
            <a:ext cx="2915733" cy="298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o-RO" noProof="0" dirty="0"/>
              <a:t>ADĂUGAREA UNUI SUBSOL</a:t>
            </a:r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1725174-FA04-488F-9F0C-3CD1D1483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8643" y="5879656"/>
            <a:ext cx="354492" cy="297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8D581BC7-E183-40DB-AC97-C19EA4EB8894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EF1588-F385-48F3-800A-554A9423E77A}"/>
              </a:ext>
            </a:extLst>
          </p:cNvPr>
          <p:cNvSpPr/>
          <p:nvPr userDrawn="1"/>
        </p:nvSpPr>
        <p:spPr>
          <a:xfrm>
            <a:off x="809310" y="5879656"/>
            <a:ext cx="283464" cy="283464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0" name="Conector drept 9">
            <a:extLst>
              <a:ext uri="{FF2B5EF4-FFF2-40B4-BE49-F238E27FC236}">
                <a16:creationId xmlns:a16="http://schemas.microsoft.com/office/drawing/2014/main" id="{440B0943-F568-4674-8FA4-B435B1E466AF}"/>
              </a:ext>
            </a:extLst>
          </p:cNvPr>
          <p:cNvCxnSpPr/>
          <p:nvPr userDrawn="1"/>
        </p:nvCxnSpPr>
        <p:spPr>
          <a:xfrm>
            <a:off x="11580000" y="6020920"/>
            <a:ext cx="612000" cy="0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62DE7FD5-7941-43A1-8663-42AE40546A4F}"/>
              </a:ext>
            </a:extLst>
          </p:cNvPr>
          <p:cNvSpPr/>
          <p:nvPr userDrawn="1"/>
        </p:nvSpPr>
        <p:spPr>
          <a:xfrm>
            <a:off x="11466563" y="5966056"/>
            <a:ext cx="109728" cy="109728"/>
          </a:xfrm>
          <a:prstGeom prst="ellipse">
            <a:avLst/>
          </a:prstGeom>
          <a:noFill/>
          <a:ln w="6350"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cxnSp>
        <p:nvCxnSpPr>
          <p:cNvPr id="13" name="Conector drept 12">
            <a:extLst>
              <a:ext uri="{FF2B5EF4-FFF2-40B4-BE49-F238E27FC236}">
                <a16:creationId xmlns:a16="http://schemas.microsoft.com/office/drawing/2014/main" id="{97791EE5-EF06-4BF8-84C6-EC24114E73F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6020920"/>
            <a:ext cx="803275" cy="468"/>
          </a:xfrm>
          <a:prstGeom prst="line">
            <a:avLst/>
          </a:prstGeom>
          <a:ln>
            <a:solidFill>
              <a:schemeClr val="bg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86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90" r:id="rId33"/>
    <p:sldLayoutId id="2147483691" r:id="rId34"/>
    <p:sldLayoutId id="2147483688" r:id="rId35"/>
    <p:sldLayoutId id="2147483689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2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7" userDrawn="1">
          <p15:clr>
            <a:srgbClr val="F26B43"/>
          </p15:clr>
        </p15:guide>
        <p15:guide id="2" pos="7174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orient="horz" pos="3793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2160" userDrawn="1">
          <p15:clr>
            <a:srgbClr val="F26B43"/>
          </p15:clr>
        </p15:guide>
        <p15:guide id="7" pos="3318" userDrawn="1">
          <p15:clr>
            <a:srgbClr val="F26B43"/>
          </p15:clr>
        </p15:guide>
        <p15:guide id="8" pos="43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mag.ro/detector-gaz-ermetiq-220v-elg-qdg/pd/DMWDYQMBM/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12" Type="http://schemas.openxmlformats.org/officeDocument/2006/relationships/hyperlink" Target="https://www.instalatii-incendiu.ro/sprinkler-bronz-cap-jos-1-2-68-c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1.jpeg"/><Relationship Id="rId5" Type="http://schemas.openxmlformats.org/officeDocument/2006/relationships/hyperlink" Target="https://www.shop-einstal.ro/pompe-si-hidrofoare/grupuri-de-pompare-ape-curate/grup-pompare-electronic-cu-alternanta-2-x-mci-10-5t-41689301060.html#group=group&amp;photo=id-1" TargetMode="External"/><Relationship Id="rId10" Type="http://schemas.openxmlformats.org/officeDocument/2006/relationships/hyperlink" Target="https://www.hornbach.ro/p/detector-de-fum-bautech-max-10-ani-baterie-inclusa/10676273/?wt_mc=ro.paid.sea.google.alwayson_assortment.eis.alle.jud.iu.&amp;gad_source=1" TargetMode="External"/><Relationship Id="rId4" Type="http://schemas.openxmlformats.org/officeDocument/2006/relationships/hyperlink" Target="https://www.calor.ro/supape-de-siguranta-abur-ap-25x40.html" TargetMode="External"/><Relationship Id="rId9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ZYJNxwMk_X0?feature=oembed" TargetMode="External"/><Relationship Id="rId5" Type="http://schemas.openxmlformats.org/officeDocument/2006/relationships/hyperlink" Target="https://www.youtube.com/watch?v=ZYJNxwMk_X0" TargetMode="Externa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fjCRfnE8Jyc?feature=oembed" TargetMode="External"/><Relationship Id="rId5" Type="http://schemas.openxmlformats.org/officeDocument/2006/relationships/image" Target="../media/image13.jpeg"/><Relationship Id="rId4" Type="http://schemas.openxmlformats.org/officeDocument/2006/relationships/hyperlink" Target="https://www.youtube.com/watch?v=fjCRfnE8Jy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zOjFaXvq8S8?feature=oembed" TargetMode="External"/><Relationship Id="rId5" Type="http://schemas.openxmlformats.org/officeDocument/2006/relationships/image" Target="../media/image14.jpeg"/><Relationship Id="rId4" Type="http://schemas.openxmlformats.org/officeDocument/2006/relationships/hyperlink" Target="https://www.youtube.com/watch?v=zOjFaXvq8S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68YPcWKAqZM?feature=oembed" TargetMode="External"/><Relationship Id="rId5" Type="http://schemas.openxmlformats.org/officeDocument/2006/relationships/hyperlink" Target="https://www.youtube.com/watch?v=68YPcWKAqZM" TargetMode="Externa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3xi05lfxoRE?feature=oembed" TargetMode="External"/><Relationship Id="rId5" Type="http://schemas.openxmlformats.org/officeDocument/2006/relationships/image" Target="../media/image17.jpeg"/><Relationship Id="rId4" Type="http://schemas.openxmlformats.org/officeDocument/2006/relationships/hyperlink" Target="https://www.youtube.com/watch?v=3xi05lfxoR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TTkfogaFmNc?feature=oembed" TargetMode="External"/><Relationship Id="rId5" Type="http://schemas.openxmlformats.org/officeDocument/2006/relationships/image" Target="../media/image18.jpeg"/><Relationship Id="rId4" Type="http://schemas.openxmlformats.org/officeDocument/2006/relationships/hyperlink" Target="https://www.youtube.com/watch?v=TTkfogaFmNc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VqteaqtXzzM?feature=oembed" TargetMode="External"/><Relationship Id="rId5" Type="http://schemas.openxmlformats.org/officeDocument/2006/relationships/image" Target="../media/image19.jpeg"/><Relationship Id="rId4" Type="http://schemas.openxmlformats.org/officeDocument/2006/relationships/hyperlink" Target="https://www.youtube.com/watch?v=VqteaqtXzzM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SQDWNdO6xE4?feature=oembed" TargetMode="External"/><Relationship Id="rId5" Type="http://schemas.openxmlformats.org/officeDocument/2006/relationships/image" Target="../media/image20.jpeg"/><Relationship Id="rId4" Type="http://schemas.openxmlformats.org/officeDocument/2006/relationships/hyperlink" Target="https://www.youtube.com/watch?v=SQDWNdO6xE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_DjvcDCo-MA?feature=oembed" TargetMode="External"/><Relationship Id="rId5" Type="http://schemas.openxmlformats.org/officeDocument/2006/relationships/hyperlink" Target="https://www.youtube.com/watch?v=_DjvcDCo-MA" TargetMode="External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6.xml"/><Relationship Id="rId5" Type="http://schemas.openxmlformats.org/officeDocument/2006/relationships/hyperlink" Target="https://www.shop-einstal.ro/pompe-si-hidrofoare/grupuri-de-pompare-ape-curate/grup-pompare-electronic-cu-alternanta-2-x-mci-10-5t-41689301060.html#group=group&amp;photo=id-1" TargetMode="External"/><Relationship Id="rId4" Type="http://schemas.openxmlformats.org/officeDocument/2006/relationships/hyperlink" Target="https://ventilatie-recuperare.ro/produs/clapeta-antifoc-circulara-motorizata-komfovent-uva-m-cu-actuator-diametru-100-560/?gad_source=1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uDToZt5GPUI?feature=oembed" TargetMode="External"/><Relationship Id="rId5" Type="http://schemas.openxmlformats.org/officeDocument/2006/relationships/image" Target="../media/image23.jpeg"/><Relationship Id="rId4" Type="http://schemas.openxmlformats.org/officeDocument/2006/relationships/hyperlink" Target="https://www.youtube.com/watch?v=uDToZt5GPUI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36.xml"/><Relationship Id="rId1" Type="http://schemas.openxmlformats.org/officeDocument/2006/relationships/video" Target="https://www.youtube.com/embed/9iEXD_CTKlY?feature=oembed" TargetMode="External"/><Relationship Id="rId5" Type="http://schemas.openxmlformats.org/officeDocument/2006/relationships/image" Target="../media/image24.jpeg"/><Relationship Id="rId4" Type="http://schemas.openxmlformats.org/officeDocument/2006/relationships/hyperlink" Target="https://www.youtube.com/watch?v=uDToZt5GPUI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u 3">
            <a:extLst>
              <a:ext uri="{FF2B5EF4-FFF2-40B4-BE49-F238E27FC236}">
                <a16:creationId xmlns:a16="http://schemas.microsoft.com/office/drawing/2014/main" id="{54F6FF42-70E3-4A7F-B5D8-2928FCB71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" y="2698113"/>
            <a:ext cx="12176448" cy="1340509"/>
          </a:xfrm>
        </p:spPr>
        <p:txBody>
          <a:bodyPr rtlCol="0">
            <a:normAutofit/>
          </a:bodyPr>
          <a:lstStyle/>
          <a:p>
            <a:r>
              <a:rPr lang="en-GB" sz="4400" dirty="0">
                <a:ea typeface="Tahoma" panose="020B0604030504040204" pitchFamily="34" charset="0"/>
                <a:cs typeface="Tahoma" panose="020B0604030504040204" pitchFamily="34" charset="0"/>
              </a:rPr>
              <a:t>ORGANE DE MA</a:t>
            </a:r>
            <a:r>
              <a:rPr lang="ro-RO" sz="4400" dirty="0">
                <a:ea typeface="Tahoma" panose="020B0604030504040204" pitchFamily="34" charset="0"/>
                <a:cs typeface="Tahoma" panose="020B0604030504040204" pitchFamily="34" charset="0"/>
              </a:rPr>
              <a:t>ȘINI ȘI TEHNOLOGIE MECANICĂ PENTRU INSTALAȚII</a:t>
            </a:r>
          </a:p>
        </p:txBody>
      </p:sp>
      <p:sp>
        <p:nvSpPr>
          <p:cNvPr id="5" name="Subtitlu 4">
            <a:extLst>
              <a:ext uri="{FF2B5EF4-FFF2-40B4-BE49-F238E27FC236}">
                <a16:creationId xmlns:a16="http://schemas.microsoft.com/office/drawing/2014/main" id="{F40A11AA-C85D-4AF4-92B2-0F4E36F4E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r>
              <a:rPr lang="ro-RO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Ș. l. dr. ing.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Constantin CILIBIU</a:t>
            </a:r>
            <a:endParaRPr lang="ro-RO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04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ubstituent imagine 11" descr="Fundal abstract&#10;">
            <a:extLst>
              <a:ext uri="{FF2B5EF4-FFF2-40B4-BE49-F238E27FC236}">
                <a16:creationId xmlns:a16="http://schemas.microsoft.com/office/drawing/2014/main" id="{403E5740-1FF0-42AF-A459-70BE0BD24FD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EA4B7241-C2B7-4F61-A69C-236E16A5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636" y="3016496"/>
            <a:ext cx="5457217" cy="1155748"/>
          </a:xfrm>
        </p:spPr>
        <p:txBody>
          <a:bodyPr rtlCol="0"/>
          <a:lstStyle/>
          <a:p>
            <a:pPr algn="ctr" rtl="0"/>
            <a:r>
              <a:rPr lang="ro-RO" sz="4000" dirty="0"/>
              <a:t>Organe de </a:t>
            </a:r>
            <a:br>
              <a:rPr lang="ro-RO" sz="4000" dirty="0"/>
            </a:br>
            <a:r>
              <a:rPr lang="ro-RO" sz="4000" dirty="0"/>
              <a:t>siguranță </a:t>
            </a:r>
            <a:br>
              <a:rPr lang="ro-RO" sz="4000" dirty="0"/>
            </a:br>
            <a:r>
              <a:rPr lang="ro-RO" sz="4000" dirty="0"/>
              <a:t>în instalații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FDFD3B61-D7B5-4C7A-80FB-02A3436F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69767" y="4468089"/>
            <a:ext cx="4618957" cy="590626"/>
          </a:xfrm>
        </p:spPr>
        <p:txBody>
          <a:bodyPr rtlCol="0"/>
          <a:lstStyle/>
          <a:p>
            <a:pPr rtl="0"/>
            <a:r>
              <a:rPr lang="ro-RO" dirty="0"/>
              <a:t>Curs </a:t>
            </a:r>
            <a:r>
              <a:rPr lang="en-US" dirty="0"/>
              <a:t>10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8223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D4B26A0-76B0-4D92-8A3B-F4FB7FCB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373" y="2464540"/>
            <a:ext cx="2227204" cy="459140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ro-RO" sz="3000" dirty="0"/>
              <a:t>Organe </a:t>
            </a:r>
            <a:br>
              <a:rPr lang="ro-RO" sz="3000" dirty="0"/>
            </a:br>
            <a:r>
              <a:rPr lang="ro-RO" sz="3000" dirty="0"/>
              <a:t>de siguranță</a:t>
            </a:r>
          </a:p>
        </p:txBody>
      </p:sp>
      <p:pic>
        <p:nvPicPr>
          <p:cNvPr id="20" name="Substituent imagine 19" descr="Fundal abstract">
            <a:extLst>
              <a:ext uri="{FF2B5EF4-FFF2-40B4-BE49-F238E27FC236}">
                <a16:creationId xmlns:a16="http://schemas.microsoft.com/office/drawing/2014/main" id="{61169563-0C6E-483D-91B6-7AB8952A8FA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5771"/>
            <a:ext cx="3288940" cy="1399070"/>
          </a:xfrm>
        </p:spPr>
      </p:pic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FE91C663-2D66-4255-91B4-906F720EB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3</a:t>
            </a:fld>
            <a:endParaRPr lang="ro-RO" dirty="0"/>
          </a:p>
        </p:txBody>
      </p:sp>
      <p:sp>
        <p:nvSpPr>
          <p:cNvPr id="7" name="Substituent subsol 6">
            <a:extLst>
              <a:ext uri="{FF2B5EF4-FFF2-40B4-BE49-F238E27FC236}">
                <a16:creationId xmlns:a16="http://schemas.microsoft.com/office/drawing/2014/main" id="{80B83D80-B29B-48B9-9B34-76AD9399E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1855342" cy="298800"/>
          </a:xfrm>
        </p:spPr>
        <p:txBody>
          <a:bodyPr rtlCol="0"/>
          <a:lstStyle/>
          <a:p>
            <a:pPr rtl="0"/>
            <a:r>
              <a:rPr lang="ro-RO" dirty="0"/>
              <a:t>Definiții</a:t>
            </a:r>
          </a:p>
        </p:txBody>
      </p:sp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EC88EDC-DE1B-4E22-AB2A-B461D5C8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E1AE9A-2156-7AC5-7D2B-5908845C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2" y="3603380"/>
            <a:ext cx="623177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Definiție: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Organele de siguranță </a:t>
            </a:r>
            <a:r>
              <a:rPr lang="ro-RO" dirty="0"/>
              <a:t>sunt </a:t>
            </a:r>
            <a:r>
              <a:rPr lang="ro-RO" b="1" dirty="0"/>
              <a:t>elemente esențiale pentru prevenirea situațiilor periculoase</a:t>
            </a:r>
            <a:r>
              <a:rPr lang="ro-RO" dirty="0"/>
              <a:t> sau a avariilor în instalațiile pentru construcții.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o-RO" dirty="0"/>
              <a:t> 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18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Scop:</a:t>
            </a:r>
            <a:r>
              <a:rPr kumimoji="0" lang="ro-RO" altLang="ro-RO" sz="18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</a:rPr>
              <a:t> </a:t>
            </a:r>
            <a:r>
              <a:rPr lang="ro-RO" altLang="ro-RO" dirty="0"/>
              <a:t>D</a:t>
            </a:r>
            <a:r>
              <a:rPr lang="ro-RO" dirty="0"/>
              <a:t>etecție și răspuns rapid la condiții care pot pune în pericol siguranța utilizatorilor sau funcționarea echipamentelor.</a:t>
            </a: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2A38BCCB-F61A-089F-D282-0F6C1D531444}"/>
              </a:ext>
            </a:extLst>
          </p:cNvPr>
          <p:cNvSpPr txBox="1"/>
          <p:nvPr/>
        </p:nvSpPr>
        <p:spPr>
          <a:xfrm>
            <a:off x="9798004" y="4160169"/>
            <a:ext cx="2048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3 Supapă de siguranță abur cu arc 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calor.ro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BB7C91F-E31E-CED8-33FE-0E944AB6D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8004" y="385771"/>
            <a:ext cx="2048985" cy="37043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1C218DA-EE45-D3D2-47E0-186B073F99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072" y="385771"/>
            <a:ext cx="2371619" cy="23716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4AA9DD62-9645-2167-D24D-3F0EB02E011D}"/>
              </a:ext>
            </a:extLst>
          </p:cNvPr>
          <p:cNvSpPr txBox="1"/>
          <p:nvPr/>
        </p:nvSpPr>
        <p:spPr>
          <a:xfrm>
            <a:off x="3753736" y="2782760"/>
            <a:ext cx="30742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1 </a:t>
            </a:r>
            <a:r>
              <a:rPr lang="pt-BR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Detector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</a:t>
            </a:r>
            <a:r>
              <a:rPr lang="pt-BR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, 220V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emag.ro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1026" name="Picture 2" descr="Detector de fum Bautech max. 10 ani, baterie inclusă-0">
            <a:extLst>
              <a:ext uri="{FF2B5EF4-FFF2-40B4-BE49-F238E27FC236}">
                <a16:creationId xmlns:a16="http://schemas.microsoft.com/office/drawing/2014/main" id="{235E837B-7A1C-E219-8E81-B2684DF32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477" y="4164103"/>
            <a:ext cx="2369424" cy="18955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A4B9442B-885B-AA32-0EC3-F6158D37CE50}"/>
              </a:ext>
            </a:extLst>
          </p:cNvPr>
          <p:cNvSpPr txBox="1"/>
          <p:nvPr/>
        </p:nvSpPr>
        <p:spPr>
          <a:xfrm>
            <a:off x="6980477" y="6059642"/>
            <a:ext cx="2369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4 </a:t>
            </a:r>
            <a:r>
              <a:rPr lang="pt-BR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Detector de fum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10"/>
              </a:rPr>
              <a:t>hornbach.ro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1028" name="Picture 4" descr="SPRINKLER BRONZ CAP JOS 1/2&quot;; 68°C, K 80, STANDARD">
            <a:extLst>
              <a:ext uri="{FF2B5EF4-FFF2-40B4-BE49-F238E27FC236}">
                <a16:creationId xmlns:a16="http://schemas.microsoft.com/office/drawing/2014/main" id="{B45283B9-4FA9-C658-A3F7-B8E10DB14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477" y="385771"/>
            <a:ext cx="2371619" cy="23716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tăText 11">
            <a:extLst>
              <a:ext uri="{FF2B5EF4-FFF2-40B4-BE49-F238E27FC236}">
                <a16:creationId xmlns:a16="http://schemas.microsoft.com/office/drawing/2014/main" id="{A693F303-7DA9-F2CB-EA83-DE485BDFA66E}"/>
              </a:ext>
            </a:extLst>
          </p:cNvPr>
          <p:cNvSpPr txBox="1"/>
          <p:nvPr/>
        </p:nvSpPr>
        <p:spPr>
          <a:xfrm>
            <a:off x="6924794" y="2796894"/>
            <a:ext cx="23694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2 </a:t>
            </a:r>
            <a:r>
              <a:rPr lang="pt-BR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SPRINKLER BRONZ CAP JOS 1/2" 68°C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12"/>
              </a:rPr>
              <a:t>instalatii-incendiu.ro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1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B7D97-A90C-5184-556D-F7A4D4AD0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523BA723-B7CB-024D-84F7-379789FA2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31D28DB-434D-52D3-9DF3-1B8589752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4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E5464FF9-B061-E440-33BA-2BCC3D5B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Supape de siguranță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6D766BB6-1F5A-9985-B551-FE04FB429602}"/>
              </a:ext>
            </a:extLst>
          </p:cNvPr>
          <p:cNvSpPr txBox="1"/>
          <p:nvPr/>
        </p:nvSpPr>
        <p:spPr>
          <a:xfrm>
            <a:off x="612840" y="365308"/>
            <a:ext cx="282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I. Supapele de siguranță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839A6023-F6C8-EC77-92E0-EF8F78173B7C}"/>
              </a:ext>
            </a:extLst>
          </p:cNvPr>
          <p:cNvSpPr txBox="1"/>
          <p:nvPr/>
        </p:nvSpPr>
        <p:spPr>
          <a:xfrm>
            <a:off x="612840" y="734640"/>
            <a:ext cx="10800515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tx2"/>
                </a:solidFill>
              </a:rPr>
              <a:t>Funcție: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dirty="0"/>
              <a:t>Supapele de siguranță eliberează presiunea excesivă dintr-un sistem pentru a preveni avariile sau exploziile.</a:t>
            </a:r>
          </a:p>
          <a:p>
            <a:pPr algn="just">
              <a:spcBef>
                <a:spcPts val="600"/>
              </a:spcBef>
            </a:pPr>
            <a:r>
              <a:rPr lang="ro-RO" b="1" dirty="0">
                <a:solidFill>
                  <a:schemeClr val="tx2"/>
                </a:solidFill>
              </a:rPr>
              <a:t>Tipuri de supape: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 Cu arc: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Presiunea fluidului împinge un piston împotriva unui arc calibrat; când presiunea depășește pragul setat, arcul se comprimă și supapa se deschide.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Boilere, sisteme de abur, conducte de gaz.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 Cu contragreutate: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Utilizează o greutate calibrată pentru a menține supapa închisă până când presiunea depășește pragul.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Sisteme industriale, instalații tehnologice.</a:t>
            </a:r>
          </a:p>
          <a:p>
            <a:pPr algn="just"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 Cu pilot: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Utilizează un regulator de presiune (pilot) pentru a controla deschiderea supapei principale.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Sisteme complexe unde este necesară o eliberare precisă a presiunii.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19A314F6-4367-769F-548E-29E4302BD262}"/>
              </a:ext>
            </a:extLst>
          </p:cNvPr>
          <p:cNvSpPr txBox="1"/>
          <p:nvPr/>
        </p:nvSpPr>
        <p:spPr>
          <a:xfrm>
            <a:off x="612840" y="4648305"/>
            <a:ext cx="60992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Avantaje: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 Protejează echipamentele de avarii costisitoare.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 Funcționează automat, fără intervenție umană.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 Sunt fiabile și ușor de calibrat.</a:t>
            </a:r>
          </a:p>
        </p:txBody>
      </p:sp>
    </p:spTree>
    <p:extLst>
      <p:ext uri="{BB962C8B-B14F-4D97-AF65-F5344CB8AC3E}">
        <p14:creationId xmlns:p14="http://schemas.microsoft.com/office/powerpoint/2010/main" val="127762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EAA2-D75D-D1E1-2E48-BA2A4DCF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33913045-2AF8-0287-9CCB-EBFCFDC9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ACB1277D-EB7F-66DA-38DB-57C89AF9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5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A8CEC780-4E1B-71D2-3351-70C00E01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Supape de siguranță</a:t>
            </a:r>
          </a:p>
        </p:txBody>
      </p:sp>
      <p:pic>
        <p:nvPicPr>
          <p:cNvPr id="2" name="Media online 1" title="Spring Loaded Safety Relief Valve">
            <a:hlinkClick r:id="" action="ppaction://media"/>
            <a:extLst>
              <a:ext uri="{FF2B5EF4-FFF2-40B4-BE49-F238E27FC236}">
                <a16:creationId xmlns:a16="http://schemas.microsoft.com/office/drawing/2014/main" id="{01628EE6-ABC9-3353-11EF-AF6F9D1B48B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833515" y="986848"/>
            <a:ext cx="7032610" cy="3970318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0460006A-4BDC-8FFF-F6B7-9431B070376E}"/>
              </a:ext>
            </a:extLst>
          </p:cNvPr>
          <p:cNvSpPr txBox="1"/>
          <p:nvPr/>
        </p:nvSpPr>
        <p:spPr>
          <a:xfrm>
            <a:off x="4205869" y="5077144"/>
            <a:ext cx="8287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 </a:t>
            </a:r>
            <a:r>
              <a:rPr lang="ro-RO" b="1" dirty="0">
                <a:solidFill>
                  <a:schemeClr val="bg2"/>
                </a:solidFill>
              </a:rPr>
              <a:t>Supapa de siguranță cu arc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E2F6F384-BCE3-CD93-2223-A96E7B9503F0}"/>
              </a:ext>
            </a:extLst>
          </p:cNvPr>
          <p:cNvSpPr txBox="1"/>
          <p:nvPr/>
        </p:nvSpPr>
        <p:spPr>
          <a:xfrm>
            <a:off x="325874" y="403555"/>
            <a:ext cx="436285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ro-RO" b="1" dirty="0">
                <a:solidFill>
                  <a:schemeClr val="bg2"/>
                </a:solidFill>
              </a:rPr>
              <a:t>A. Supapele de siguranță cu arc</a:t>
            </a:r>
          </a:p>
          <a:p>
            <a:pPr algn="just"/>
            <a:r>
              <a:rPr lang="ro-RO" dirty="0"/>
              <a:t>Sunt cele mai comune tipuri de supape de siguranță și sunt apreciate pentru simplitatea, fiabilitatea și versatilitatea lor.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1EC3E036-B389-9AF4-8CCE-E66FEB1B7058}"/>
              </a:ext>
            </a:extLst>
          </p:cNvPr>
          <p:cNvSpPr txBox="1"/>
          <p:nvPr/>
        </p:nvSpPr>
        <p:spPr>
          <a:xfrm>
            <a:off x="325875" y="1845490"/>
            <a:ext cx="43628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tx2"/>
                </a:solidFill>
              </a:rPr>
              <a:t>Componente Principale</a:t>
            </a:r>
          </a:p>
          <a:p>
            <a:pPr algn="just"/>
            <a:r>
              <a:rPr lang="ro-RO" u="sng" dirty="0">
                <a:solidFill>
                  <a:schemeClr val="bg2"/>
                </a:solidFill>
              </a:rPr>
              <a:t>Carcasa</a:t>
            </a:r>
            <a:r>
              <a:rPr lang="ro-RO" dirty="0"/>
              <a:t>: Fabricată din materiale rezistente la presiuni ridicate și coroziune (oțel inoxidabil, fontă ductilă, bronz etc.).</a:t>
            </a:r>
          </a:p>
          <a:p>
            <a:pPr algn="just"/>
            <a:r>
              <a:rPr lang="ro-RO" u="sng" dirty="0">
                <a:solidFill>
                  <a:schemeClr val="bg2"/>
                </a:solidFill>
              </a:rPr>
              <a:t>Arc calibrat</a:t>
            </a:r>
            <a:r>
              <a:rPr lang="ro-RO" dirty="0"/>
              <a:t>: Componenta principală care determină pragul de deschidere al supapei.</a:t>
            </a:r>
          </a:p>
          <a:p>
            <a:pPr algn="just"/>
            <a:r>
              <a:rPr lang="ro-RO" u="sng" dirty="0">
                <a:solidFill>
                  <a:schemeClr val="bg2"/>
                </a:solidFill>
              </a:rPr>
              <a:t>Disc și scaun</a:t>
            </a:r>
            <a:r>
              <a:rPr lang="ro-RO" dirty="0"/>
              <a:t>: Asigură etanșarea supapei în condiții normale.</a:t>
            </a:r>
          </a:p>
          <a:p>
            <a:pPr algn="just"/>
            <a:r>
              <a:rPr lang="ro-RO" u="sng" dirty="0">
                <a:solidFill>
                  <a:schemeClr val="bg2"/>
                </a:solidFill>
              </a:rPr>
              <a:t>Orificiu de eliberare</a:t>
            </a:r>
            <a:r>
              <a:rPr lang="ro-RO" dirty="0"/>
              <a:t>: Permite evacuarea controlată a fluidului pentru a reduce presiunea.</a:t>
            </a:r>
          </a:p>
          <a:p>
            <a:pPr algn="just"/>
            <a:r>
              <a:rPr lang="ro-RO" u="sng" dirty="0">
                <a:solidFill>
                  <a:schemeClr val="bg2"/>
                </a:solidFill>
              </a:rPr>
              <a:t>Mecanism de reglare</a:t>
            </a:r>
            <a:r>
              <a:rPr lang="ro-RO" dirty="0"/>
              <a:t>: Permite ajustarea tensiunii arcului pentru a seta pragul de deschidere.</a:t>
            </a:r>
          </a:p>
        </p:txBody>
      </p:sp>
    </p:spTree>
    <p:extLst>
      <p:ext uri="{BB962C8B-B14F-4D97-AF65-F5344CB8AC3E}">
        <p14:creationId xmlns:p14="http://schemas.microsoft.com/office/powerpoint/2010/main" val="24891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EAA2-D75D-D1E1-2E48-BA2A4DCF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33913045-2AF8-0287-9CCB-EBFCFDC9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ACB1277D-EB7F-66DA-38DB-57C89AF9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6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A8CEC780-4E1B-71D2-3351-70C00E01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Supape de siguranță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460006A-4BDC-8FFF-F6B7-9431B070376E}"/>
              </a:ext>
            </a:extLst>
          </p:cNvPr>
          <p:cNvSpPr txBox="1"/>
          <p:nvPr/>
        </p:nvSpPr>
        <p:spPr>
          <a:xfrm>
            <a:off x="4348405" y="4897069"/>
            <a:ext cx="8287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2 </a:t>
            </a:r>
            <a:r>
              <a:rPr lang="ro-RO" b="1" dirty="0">
                <a:solidFill>
                  <a:schemeClr val="bg2"/>
                </a:solidFill>
              </a:rPr>
              <a:t>Supapa de siguranță cu contragreutate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How Lever Safety Valve Works #BME #GTU #BOILER #MOUNTING">
            <a:hlinkClick r:id="" action="ppaction://media"/>
            <a:extLst>
              <a:ext uri="{FF2B5EF4-FFF2-40B4-BE49-F238E27FC236}">
                <a16:creationId xmlns:a16="http://schemas.microsoft.com/office/drawing/2014/main" id="{0F725C85-7A1F-9C74-A3AE-49BC5F7E4A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157838" y="979280"/>
            <a:ext cx="6669037" cy="3765060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55A02A92-9AE5-7B6E-6899-45EB16B77723}"/>
              </a:ext>
            </a:extLst>
          </p:cNvPr>
          <p:cNvSpPr txBox="1"/>
          <p:nvPr/>
        </p:nvSpPr>
        <p:spPr>
          <a:xfrm>
            <a:off x="365125" y="411752"/>
            <a:ext cx="4664075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o-RO" b="1" dirty="0">
                <a:solidFill>
                  <a:schemeClr val="bg2"/>
                </a:solidFill>
              </a:rPr>
              <a:t>B. Supapele de siguranță cu contragreutate </a:t>
            </a:r>
          </a:p>
          <a:p>
            <a:pPr algn="just"/>
            <a:r>
              <a:rPr lang="ro-RO" dirty="0"/>
              <a:t>Sunt o variantă simplă și eficientă a supapelor de siguranță, utilizate frecvent în aplicații unde controlul precis al presiunii și funcționarea la presiuni reduse sunt esențiale. Acestea </a:t>
            </a:r>
            <a:r>
              <a:rPr lang="ro-RO" u="sng" dirty="0"/>
              <a:t>funcționează pe principiul echilibrării presiunii fluidului cu forța generată de o greutate aplicată mecanic</a:t>
            </a:r>
            <a:r>
              <a:rPr lang="ro-RO" dirty="0"/>
              <a:t>.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0DF23B81-946F-C48D-FCE7-5F3F9F5B0FB0}"/>
              </a:ext>
            </a:extLst>
          </p:cNvPr>
          <p:cNvSpPr txBox="1"/>
          <p:nvPr/>
        </p:nvSpPr>
        <p:spPr>
          <a:xfrm>
            <a:off x="365125" y="2739399"/>
            <a:ext cx="466407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Limitări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 Dimensiuni mai mari</a:t>
            </a:r>
            <a:r>
              <a:rPr lang="ro-RO" b="1" dirty="0"/>
              <a:t>:</a:t>
            </a:r>
            <a:r>
              <a:rPr lang="ro-RO" dirty="0"/>
              <a:t> Necesită spațiu suplimentar pentru brațul și greutatea supapei.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 Precizie mai scăzută</a:t>
            </a:r>
            <a:r>
              <a:rPr lang="ro-RO" b="1" dirty="0"/>
              <a:t>:</a:t>
            </a:r>
            <a:r>
              <a:rPr lang="ro-RO" dirty="0"/>
              <a:t> Reglajul nu este la fel de fin ca în cazul supapelor cu arc.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 Vulnerabilitate la vibrații</a:t>
            </a:r>
            <a:r>
              <a:rPr lang="ro-RO" b="1" dirty="0"/>
              <a:t>:</a:t>
            </a:r>
            <a:r>
              <a:rPr lang="ro-RO" dirty="0"/>
              <a:t> Pot fi afectate de vibrațiile externe, ceea ce poate duce la deschideri premature.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chemeClr val="tx2"/>
                </a:solidFill>
              </a:rPr>
              <a:t> Sensibilitate la montaj</a:t>
            </a:r>
            <a:r>
              <a:rPr lang="ro-RO" b="1" dirty="0"/>
              <a:t>:</a:t>
            </a:r>
            <a:r>
              <a:rPr lang="ro-RO" dirty="0"/>
              <a:t> Înclinația sau instalarea necorespunzătoare pot afecta funcționarea corectă.</a:t>
            </a:r>
          </a:p>
        </p:txBody>
      </p:sp>
    </p:spTree>
    <p:extLst>
      <p:ext uri="{BB962C8B-B14F-4D97-AF65-F5344CB8AC3E}">
        <p14:creationId xmlns:p14="http://schemas.microsoft.com/office/powerpoint/2010/main" val="245315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EAA2-D75D-D1E1-2E48-BA2A4DCF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33913045-2AF8-0287-9CCB-EBFCFDC9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ACB1277D-EB7F-66DA-38DB-57C89AF9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7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A8CEC780-4E1B-71D2-3351-70C00E01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Supape de siguranță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460006A-4BDC-8FFF-F6B7-9431B070376E}"/>
              </a:ext>
            </a:extLst>
          </p:cNvPr>
          <p:cNvSpPr txBox="1"/>
          <p:nvPr/>
        </p:nvSpPr>
        <p:spPr>
          <a:xfrm>
            <a:off x="5632454" y="4897069"/>
            <a:ext cx="5865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3 </a:t>
            </a:r>
            <a:r>
              <a:rPr lang="ro-RO" b="1" dirty="0">
                <a:solidFill>
                  <a:schemeClr val="bg2"/>
                </a:solidFill>
              </a:rPr>
              <a:t>Supapa de siguranță cu pilot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55A02A92-9AE5-7B6E-6899-45EB16B77723}"/>
              </a:ext>
            </a:extLst>
          </p:cNvPr>
          <p:cNvSpPr txBox="1"/>
          <p:nvPr/>
        </p:nvSpPr>
        <p:spPr>
          <a:xfrm>
            <a:off x="365125" y="191307"/>
            <a:ext cx="4664075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o-RO" b="1" dirty="0">
                <a:solidFill>
                  <a:schemeClr val="bg2"/>
                </a:solidFill>
              </a:rPr>
              <a:t>C. Supapele de siguranță cu pilot </a:t>
            </a:r>
          </a:p>
          <a:p>
            <a:pPr algn="just"/>
            <a:r>
              <a:rPr lang="ro-RO" dirty="0"/>
              <a:t>Folosesc un </a:t>
            </a:r>
            <a:r>
              <a:rPr lang="ro-RO" b="1" dirty="0"/>
              <a:t>mecanism auxiliar (pilot)</a:t>
            </a:r>
            <a:r>
              <a:rPr lang="ro-RO" dirty="0"/>
              <a:t> pentru a controla deschiderea și închiderea supapei principale. </a:t>
            </a:r>
            <a:r>
              <a:rPr lang="ro-RO" u="sng" dirty="0"/>
              <a:t>Pilotul este o supapă de dimensiuni reduse care detectează presiunea sistemului și activează supapa principală</a:t>
            </a:r>
            <a:r>
              <a:rPr lang="ro-RO" dirty="0"/>
              <a:t> atunci când este necesar.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8B08404F-4307-CD2F-E8F4-7FA9CC6CF952}"/>
              </a:ext>
            </a:extLst>
          </p:cNvPr>
          <p:cNvSpPr txBox="1"/>
          <p:nvPr/>
        </p:nvSpPr>
        <p:spPr>
          <a:xfrm>
            <a:off x="365124" y="2242021"/>
            <a:ext cx="46640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Avantaje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 </a:t>
            </a:r>
            <a:r>
              <a:rPr lang="ro-RO" b="1" dirty="0">
                <a:solidFill>
                  <a:schemeClr val="tx2"/>
                </a:solidFill>
              </a:rPr>
              <a:t>Precizie ridicată: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Pilotul permite reglarea precisă a presiunii de declanșare.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 </a:t>
            </a:r>
            <a:r>
              <a:rPr lang="ro-RO" b="1" dirty="0">
                <a:solidFill>
                  <a:schemeClr val="tx2"/>
                </a:solidFill>
              </a:rPr>
              <a:t>Eficiență la presiuni variate: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Funcționează bine în sisteme cu presiuni înalte sau joase.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 </a:t>
            </a:r>
            <a:r>
              <a:rPr lang="ro-RO" b="1" dirty="0">
                <a:solidFill>
                  <a:schemeClr val="tx2"/>
                </a:solidFill>
              </a:rPr>
              <a:t>Fiabilitate: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Minimizează riscul de deschidere prematură sau întârziată.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 </a:t>
            </a:r>
            <a:r>
              <a:rPr lang="ro-RO" b="1" dirty="0">
                <a:solidFill>
                  <a:schemeClr val="tx2"/>
                </a:solidFill>
              </a:rPr>
              <a:t>Flexibilitate: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Poate fi ajustată ușor pentru diferite limite de presiune fără înlocuirea componentelor principale.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 </a:t>
            </a:r>
            <a:r>
              <a:rPr lang="ro-RO" b="1" dirty="0">
                <a:solidFill>
                  <a:schemeClr val="tx2"/>
                </a:solidFill>
              </a:rPr>
              <a:t>Eliminarea vibrațiilor:</a:t>
            </a:r>
            <a:r>
              <a:rPr lang="ro-RO" dirty="0">
                <a:solidFill>
                  <a:schemeClr val="tx2"/>
                </a:solidFill>
              </a:rPr>
              <a:t> </a:t>
            </a:r>
            <a:r>
              <a:rPr lang="ro-RO" dirty="0"/>
              <a:t>Supapa principală nu se deschide și închide rapid, reducând riscul de „lovituri de berbec”.</a:t>
            </a:r>
          </a:p>
        </p:txBody>
      </p:sp>
      <p:pic>
        <p:nvPicPr>
          <p:cNvPr id="10" name="Media online 9" title="Pilot Operated Relief Valve Animation">
            <a:hlinkClick r:id="" action="ppaction://media"/>
            <a:extLst>
              <a:ext uri="{FF2B5EF4-FFF2-40B4-BE49-F238E27FC236}">
                <a16:creationId xmlns:a16="http://schemas.microsoft.com/office/drawing/2014/main" id="{6615D116-B8A7-0C3B-A79E-A9D2EB1ABBB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5224700" y="956820"/>
            <a:ext cx="6681147" cy="394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7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CEAA2-D75D-D1E1-2E48-BA2A4DCF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33913045-2AF8-0287-9CCB-EBFCFDC9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ACB1277D-EB7F-66DA-38DB-57C89AF9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8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A8CEC780-4E1B-71D2-3351-70C00E01B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Supape de siguranță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FD81E9D5-C71F-4A97-B849-A28DB09C6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29" y="2769666"/>
            <a:ext cx="9726938" cy="2813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CasetăText 11">
            <a:extLst>
              <a:ext uri="{FF2B5EF4-FFF2-40B4-BE49-F238E27FC236}">
                <a16:creationId xmlns:a16="http://schemas.microsoft.com/office/drawing/2014/main" id="{24CDE9B1-BEF8-BA18-FB6C-6946B0E72214}"/>
              </a:ext>
            </a:extLst>
          </p:cNvPr>
          <p:cNvSpPr txBox="1"/>
          <p:nvPr/>
        </p:nvSpPr>
        <p:spPr>
          <a:xfrm>
            <a:off x="614677" y="1415440"/>
            <a:ext cx="10962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/>
              <a:t>STAS 7132-86 </a:t>
            </a:r>
            <a:r>
              <a:rPr lang="ro-RO" dirty="0"/>
              <a:t>Masuri de siguranță la instalațiile de încălzire centrală cu apă având temperatura maximă de 115°C, prevede </a:t>
            </a:r>
            <a:r>
              <a:rPr lang="ro-RO" b="1" u="sng" dirty="0">
                <a:solidFill>
                  <a:schemeClr val="bg2"/>
                </a:solidFill>
              </a:rPr>
              <a:t>verificarea supapelor de siguranță la intervale de maxim 6 luni</a:t>
            </a:r>
            <a:r>
              <a:rPr lang="ro-RO" dirty="0"/>
              <a:t>. </a:t>
            </a:r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96456E3B-430F-AE1A-F667-3B8F024A7483}"/>
              </a:ext>
            </a:extLst>
          </p:cNvPr>
          <p:cNvSpPr txBox="1"/>
          <p:nvPr/>
        </p:nvSpPr>
        <p:spPr>
          <a:xfrm>
            <a:off x="614677" y="537558"/>
            <a:ext cx="10962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u="sng" dirty="0">
                <a:solidFill>
                  <a:schemeClr val="bg2"/>
                </a:solidFill>
              </a:rPr>
              <a:t>Întreținerea corectă și periodică a supapelor de siguranță este esențială</a:t>
            </a:r>
            <a:r>
              <a:rPr lang="ro-RO" dirty="0">
                <a:solidFill>
                  <a:schemeClr val="bg2"/>
                </a:solidFill>
              </a:rPr>
              <a:t> pentru asigurarea funcționării lor fiabile și pentru prevenirea situațiilor periculoase.</a:t>
            </a:r>
          </a:p>
        </p:txBody>
      </p:sp>
      <p:sp>
        <p:nvSpPr>
          <p:cNvPr id="15" name="CasetăText 14">
            <a:extLst>
              <a:ext uri="{FF2B5EF4-FFF2-40B4-BE49-F238E27FC236}">
                <a16:creationId xmlns:a16="http://schemas.microsoft.com/office/drawing/2014/main" id="{B9C62836-1E34-79C5-E3C8-EA28B585F656}"/>
              </a:ext>
            </a:extLst>
          </p:cNvPr>
          <p:cNvSpPr txBox="1"/>
          <p:nvPr/>
        </p:nvSpPr>
        <p:spPr>
          <a:xfrm>
            <a:off x="2681020" y="2385997"/>
            <a:ext cx="68299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Tabel 1 Comparație între diverse tipuri de supape de siguranță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77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D985E-0F5B-6B73-29C9-EEF00747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10780A3A-0D99-5EB6-F0BA-E7C061A5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DB2F06A8-B467-3105-7F06-79B195FF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9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30B96040-1AE9-2730-4D50-731FCD674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F54EEC19-69CE-EF49-8275-42146300AA0E}"/>
              </a:ext>
            </a:extLst>
          </p:cNvPr>
          <p:cNvSpPr txBox="1"/>
          <p:nvPr/>
        </p:nvSpPr>
        <p:spPr>
          <a:xfrm>
            <a:off x="612840" y="378180"/>
            <a:ext cx="282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II. Detectoarele de gaz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F9B3F6C5-C728-1B18-83C8-947C66552B95}"/>
              </a:ext>
            </a:extLst>
          </p:cNvPr>
          <p:cNvSpPr txBox="1"/>
          <p:nvPr/>
        </p:nvSpPr>
        <p:spPr>
          <a:xfrm>
            <a:off x="612840" y="751344"/>
            <a:ext cx="10740960" cy="42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Funcție: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Detectează prezența gazelor periculoase (cum ar fi gazul natural, monoxidul de carbon sau gazele toxice) și alertează utilizatorii.</a:t>
            </a:r>
          </a:p>
          <a:p>
            <a:r>
              <a:rPr lang="ro-RO" b="1" dirty="0">
                <a:solidFill>
                  <a:schemeClr val="tx2"/>
                </a:solidFill>
              </a:rPr>
              <a:t>Tipuri de detectoare: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Detectoare catalitice: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Gazele combustibile sunt oxidate la contactul cu senzorul, producând un semnal electric proporțional cu concentrația gazului.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Clădiri rezidențiale, centrale termice.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Detectoare cu infraroșu: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Măsoară absorbția luminii infraroșii de către gazele combustibile.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Spații industriale.</a:t>
            </a:r>
          </a:p>
          <a:p>
            <a:pPr>
              <a:spcBef>
                <a:spcPts val="600"/>
              </a:spcBef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Detectoare electrochimice: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Gazele reacționează cu un electrod sensibil, generând un curent electric proporțional cu concentrația.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Detectarea monoxidului de carbon în locuințe.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D1AC8900-8AFD-2F84-5021-29F679799463}"/>
              </a:ext>
            </a:extLst>
          </p:cNvPr>
          <p:cNvSpPr txBox="1"/>
          <p:nvPr/>
        </p:nvSpPr>
        <p:spPr>
          <a:xfrm>
            <a:off x="612840" y="4952494"/>
            <a:ext cx="84436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Avantaje: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 Prevenirea intoxicărilor și a incendiilor/exploziilor.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 Pot include funcții suplimentare, cum ar fi închiderea automată a alimentării cu gaz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204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5F46-3B42-F964-7808-1EA5FA3E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F38EFAC-714B-9329-4657-79DF393F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4A42088-FC70-0407-83E7-CE39A660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10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F20C6A18-7957-61B7-E2FA-5741BD6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pic>
        <p:nvPicPr>
          <p:cNvPr id="2" name="Media online 1" title="MSA Sensor Technologies – Catalytic Combustion">
            <a:hlinkClick r:id="" action="ppaction://media"/>
            <a:extLst>
              <a:ext uri="{FF2B5EF4-FFF2-40B4-BE49-F238E27FC236}">
                <a16:creationId xmlns:a16="http://schemas.microsoft.com/office/drawing/2014/main" id="{F5028079-DFEA-ED9A-B92A-9E098975349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85436" y="312396"/>
            <a:ext cx="9621128" cy="5431687"/>
          </a:xfrm>
          <a:prstGeom prst="rect">
            <a:avLst/>
          </a:prstGeom>
        </p:spPr>
      </p:pic>
      <p:sp>
        <p:nvSpPr>
          <p:cNvPr id="5" name="CasetăText 4">
            <a:extLst>
              <a:ext uri="{FF2B5EF4-FFF2-40B4-BE49-F238E27FC236}">
                <a16:creationId xmlns:a16="http://schemas.microsoft.com/office/drawing/2014/main" id="{BC3540B2-E83D-D134-A738-DF372D752891}"/>
              </a:ext>
            </a:extLst>
          </p:cNvPr>
          <p:cNvSpPr txBox="1"/>
          <p:nvPr/>
        </p:nvSpPr>
        <p:spPr>
          <a:xfrm>
            <a:off x="2947481" y="5854301"/>
            <a:ext cx="688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4 </a:t>
            </a:r>
            <a:r>
              <a:rPr lang="ro-RO" b="1" dirty="0">
                <a:solidFill>
                  <a:schemeClr val="bg2"/>
                </a:solidFill>
              </a:rPr>
              <a:t>Cum funcționează un detector catalitic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2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5F46-3B42-F964-7808-1EA5FA3E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F38EFAC-714B-9329-4657-79DF393F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4A42088-FC70-0407-83E7-CE39A660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11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F20C6A18-7957-61B7-E2FA-5741BD6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2C6CFC4-E8D5-E787-F125-5BB22491B8FF}"/>
              </a:ext>
            </a:extLst>
          </p:cNvPr>
          <p:cNvSpPr txBox="1"/>
          <p:nvPr/>
        </p:nvSpPr>
        <p:spPr>
          <a:xfrm>
            <a:off x="2529191" y="5854301"/>
            <a:ext cx="730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5 </a:t>
            </a:r>
            <a:r>
              <a:rPr lang="ro-RO" b="1" dirty="0">
                <a:solidFill>
                  <a:schemeClr val="bg2"/>
                </a:solidFill>
              </a:rPr>
              <a:t>Cum funcționează un detector cu infraroșu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MSA Sensor Technologies Infrared GB HD">
            <a:hlinkClick r:id="" action="ppaction://media"/>
            <a:extLst>
              <a:ext uri="{FF2B5EF4-FFF2-40B4-BE49-F238E27FC236}">
                <a16:creationId xmlns:a16="http://schemas.microsoft.com/office/drawing/2014/main" id="{5B55C9D2-4355-9D35-DA12-A37C98DE3DF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93103" y="394491"/>
            <a:ext cx="9405793" cy="53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99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5F46-3B42-F964-7808-1EA5FA3E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F38EFAC-714B-9329-4657-79DF393F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4A42088-FC70-0407-83E7-CE39A660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12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F20C6A18-7957-61B7-E2FA-5741BD6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2C6CFC4-E8D5-E787-F125-5BB22491B8FF}"/>
              </a:ext>
            </a:extLst>
          </p:cNvPr>
          <p:cNvSpPr txBox="1"/>
          <p:nvPr/>
        </p:nvSpPr>
        <p:spPr>
          <a:xfrm>
            <a:off x="2529191" y="5854301"/>
            <a:ext cx="730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6 </a:t>
            </a:r>
            <a:r>
              <a:rPr lang="ro-RO" b="1" dirty="0">
                <a:solidFill>
                  <a:schemeClr val="bg2"/>
                </a:solidFill>
              </a:rPr>
              <a:t>Cum funcționează un detector electrochimic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2" name="Media online 1" title="MSA Sensor Technologies Electrochemical GB HD">
            <a:hlinkClick r:id="" action="ppaction://media"/>
            <a:extLst>
              <a:ext uri="{FF2B5EF4-FFF2-40B4-BE49-F238E27FC236}">
                <a16:creationId xmlns:a16="http://schemas.microsoft.com/office/drawing/2014/main" id="{0C292C99-E7E3-D161-6F2D-EBDC64C21EF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61333" y="348227"/>
            <a:ext cx="9469334" cy="534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65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25F46-3B42-F964-7808-1EA5FA3E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F38EFAC-714B-9329-4657-79DF393F8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4A42088-FC70-0407-83E7-CE39A660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13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F20C6A18-7957-61B7-E2FA-5741BD60E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42C6CFC4-E8D5-E787-F125-5BB22491B8FF}"/>
              </a:ext>
            </a:extLst>
          </p:cNvPr>
          <p:cNvSpPr txBox="1"/>
          <p:nvPr/>
        </p:nvSpPr>
        <p:spPr>
          <a:xfrm>
            <a:off x="4136278" y="5458983"/>
            <a:ext cx="7300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7 </a:t>
            </a:r>
            <a:r>
              <a:rPr lang="ro-RO" b="1" dirty="0">
                <a:solidFill>
                  <a:schemeClr val="bg2"/>
                </a:solidFill>
              </a:rPr>
              <a:t>Cum funcționează un detector cu laser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MSA Senscient ELDS LASER GAS DETECTION">
            <a:hlinkClick r:id="" action="ppaction://media"/>
            <a:extLst>
              <a:ext uri="{FF2B5EF4-FFF2-40B4-BE49-F238E27FC236}">
                <a16:creationId xmlns:a16="http://schemas.microsoft.com/office/drawing/2014/main" id="{D41DB9B8-DEFF-FD5E-84E4-D5012191C9D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3754877" y="856190"/>
            <a:ext cx="8063627" cy="4552388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id="{B2C78737-8E59-F451-3C97-CD9CB70A34E3}"/>
              </a:ext>
            </a:extLst>
          </p:cNvPr>
          <p:cNvSpPr txBox="1"/>
          <p:nvPr/>
        </p:nvSpPr>
        <p:spPr>
          <a:xfrm>
            <a:off x="373496" y="1147225"/>
            <a:ext cx="30181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dirty="0">
                <a:solidFill>
                  <a:schemeClr val="bg2"/>
                </a:solidFill>
              </a:rPr>
              <a:t>Detectoarele de gaz cu laser </a:t>
            </a:r>
          </a:p>
          <a:p>
            <a:pPr algn="just"/>
            <a:endParaRPr lang="ro-RO" b="1" dirty="0">
              <a:solidFill>
                <a:schemeClr val="bg2"/>
              </a:solidFill>
            </a:endParaRPr>
          </a:p>
          <a:p>
            <a:pPr algn="just"/>
            <a:r>
              <a:rPr lang="ro-RO" dirty="0"/>
              <a:t>Reprezintă o tehnologie avansată pentru monitorizarea și detectarea scurgerilor de gaze periculoase în diverse aplicații industriale și comerciale. </a:t>
            </a:r>
          </a:p>
          <a:p>
            <a:pPr algn="just"/>
            <a:r>
              <a:rPr lang="ro-RO" u="sng" dirty="0"/>
              <a:t>Acestea se bazează pe utilizarea spectroscopiei laser pentru a identifica gazele specifice prin analiza caracteristicilor lor spectrale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45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62508-A602-5554-9EB1-BD22EA56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A9591C6D-33CA-1ECE-FCF0-2D526A8E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DD9350BA-D4F8-FBED-A322-A5DC3AD4B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14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36848F4A-7EB9-CA5C-2201-B4840F5BE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97214899-47A7-4FAE-D5CA-E06486C3EF4D}"/>
              </a:ext>
            </a:extLst>
          </p:cNvPr>
          <p:cNvSpPr txBox="1"/>
          <p:nvPr/>
        </p:nvSpPr>
        <p:spPr>
          <a:xfrm>
            <a:off x="778643" y="556791"/>
            <a:ext cx="105751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Principiul de funcționare</a:t>
            </a:r>
          </a:p>
          <a:p>
            <a:endParaRPr lang="ro-RO" b="1" dirty="0"/>
          </a:p>
          <a:p>
            <a:r>
              <a:rPr lang="ro-RO" dirty="0"/>
              <a:t>Detectoarele de gaz cu laser folosesc spectroscopia de absorbție, în special tehnologia </a:t>
            </a:r>
            <a:r>
              <a:rPr lang="ro-RO" b="1" dirty="0"/>
              <a:t>TDLAS (</a:t>
            </a:r>
            <a:r>
              <a:rPr lang="ro-RO" b="1" dirty="0" err="1"/>
              <a:t>Tunable</a:t>
            </a:r>
            <a:r>
              <a:rPr lang="ro-RO" b="1" dirty="0"/>
              <a:t> Diode Laser </a:t>
            </a:r>
            <a:r>
              <a:rPr lang="ro-RO" b="1" dirty="0" err="1"/>
              <a:t>Absorption</a:t>
            </a:r>
            <a:r>
              <a:rPr lang="ro-RO" b="1" dirty="0"/>
              <a:t> </a:t>
            </a:r>
            <a:r>
              <a:rPr lang="ro-RO" b="1" dirty="0" err="1"/>
              <a:t>Spectroscopy</a:t>
            </a:r>
            <a:r>
              <a:rPr lang="ro-RO" b="1" dirty="0"/>
              <a:t>)</a:t>
            </a:r>
            <a:r>
              <a:rPr lang="ro-RO" dirty="0"/>
              <a:t>.</a:t>
            </a:r>
          </a:p>
          <a:p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Emisie de rază laser: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Detectorul emite un fascicul laser pe o lungime de undă specifică, corespunzătoare spectrului de absorbție al gazului țintă (ex.: metan, dioxid de carbon, amoniac).</a:t>
            </a:r>
          </a:p>
          <a:p>
            <a:pPr marL="742950" lvl="1" indent="-285750">
              <a:buFont typeface="+mj-lt"/>
              <a:buAutoNum type="arabicPeriod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Interacțiunea cu gazul: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Dacă gazul țintă este prezent, acesta absoarbe energia luminii laser la anumite lungimi de undă.</a:t>
            </a:r>
          </a:p>
          <a:p>
            <a:pPr marL="742950" lvl="1" indent="-285750">
              <a:buFont typeface="+mj-lt"/>
              <a:buAutoNum type="arabicPeriod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Analiză spectroscopică: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Sistemul măsoară intensitatea fasciculului după ce a traversat mediul, determinând concentrația gazului în funcție de cantitatea de energie absorbită.</a:t>
            </a:r>
          </a:p>
          <a:p>
            <a:pPr marL="742950" lvl="1" indent="-285750">
              <a:buFont typeface="+mj-lt"/>
              <a:buAutoNum type="arabicPeriod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Rezultat rapid: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Datele sunt procesate în timp real, indicând prezența, concentrația și posibila localizare a gazului.</a:t>
            </a:r>
          </a:p>
        </p:txBody>
      </p:sp>
    </p:spTree>
    <p:extLst>
      <p:ext uri="{BB962C8B-B14F-4D97-AF65-F5344CB8AC3E}">
        <p14:creationId xmlns:p14="http://schemas.microsoft.com/office/powerpoint/2010/main" val="153337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03E1-2998-DDAC-4DD2-CA98FE5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22357416-B4B1-F070-5AFA-B27A691A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A0BF7239-BA30-DE11-C404-A9D72A9E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15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2E0EEB4B-919C-449D-6530-D2F04997C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24EE1722-A197-AF92-86ED-0843B67D8684}"/>
              </a:ext>
            </a:extLst>
          </p:cNvPr>
          <p:cNvSpPr txBox="1"/>
          <p:nvPr/>
        </p:nvSpPr>
        <p:spPr>
          <a:xfrm>
            <a:off x="778643" y="680480"/>
            <a:ext cx="105751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Caracteristici:</a:t>
            </a:r>
          </a:p>
          <a:p>
            <a:endParaRPr lang="ro-RO" b="1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Detecție selectivă: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Detectează un gaz specific fără a fi influențat de alte gaze sau impurități din mediu.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Sensibilitate ridicată: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Detectează concentrații extrem de mici de gaz (niveluri de PPM).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Rază mare de acțiune: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Unele detectoare pot monitoriza gazele pe distanțe mari, chiar și câțiva kilometri (ex.: conducte, instalații </a:t>
            </a:r>
            <a:r>
              <a:rPr lang="en-US" dirty="0"/>
              <a:t>de mare </a:t>
            </a:r>
            <a:r>
              <a:rPr lang="en-US" dirty="0" err="1"/>
              <a:t>anvergur</a:t>
            </a:r>
            <a:r>
              <a:rPr lang="ro-RO" dirty="0"/>
              <a:t>ă).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Răspuns rapid: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Timpul de detecție este aproape instantaneu, ceea ce permite reacții rapide în situații de urgență.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 Fără contact: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Fasciculul laser traversează spațiul fără a fi necesar să intre în contact direct cu gazul.</a:t>
            </a:r>
          </a:p>
        </p:txBody>
      </p:sp>
    </p:spTree>
    <p:extLst>
      <p:ext uri="{BB962C8B-B14F-4D97-AF65-F5344CB8AC3E}">
        <p14:creationId xmlns:p14="http://schemas.microsoft.com/office/powerpoint/2010/main" val="2581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0880-E545-0972-E140-8C7A0224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B477A766-18B4-012E-C839-96FC76C55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D7B93656-C4AD-ACCF-5902-6F87379B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16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05B33AE5-3AC7-A264-63B4-DBEC7696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50C32507-B0F7-98DE-315D-0CC44FE511FC}"/>
              </a:ext>
            </a:extLst>
          </p:cNvPr>
          <p:cNvSpPr txBox="1"/>
          <p:nvPr/>
        </p:nvSpPr>
        <p:spPr>
          <a:xfrm>
            <a:off x="808421" y="369175"/>
            <a:ext cx="1057515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Avantaje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 Precizie înaltă: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Poate detecta gazele chiar și în concentrații extrem de scăzute.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 Fiabilitate în medii dificile: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Funcționează eficient în medii dure (temperaturi extreme, medii prăfuite, umiditate ridicată).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 Detectare la distanță: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Fără a fi nevoie de plasarea unui senzor în zona monitorizată, ceea ce reduce riscurile.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 Durată lungă de viață: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Tehnologia laser are o durată de viață extinsă, iar necesitatea de întreținere este minimă.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 Adaptabilitate: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Configurații personalizabile pentru detectarea diferitelor tipuri de gaze.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A36E6BAA-CB6E-71BE-1B36-C6826D2B1925}"/>
              </a:ext>
            </a:extLst>
          </p:cNvPr>
          <p:cNvSpPr txBox="1"/>
          <p:nvPr/>
        </p:nvSpPr>
        <p:spPr>
          <a:xfrm>
            <a:off x="778643" y="3596045"/>
            <a:ext cx="105751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Aplicații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 Industria gazelor: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Monitorizarea scurgerilor de metan în conducte și rezervoare.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 Energia și termocentrale: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Controlul scurgerilor de gaze combustibile sau toxice în stațiile de producție de energie.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 Industria chimică: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Detectarea amoniacului, clorului sau altor gaze utilizate în procesele industriale.</a:t>
            </a:r>
          </a:p>
        </p:txBody>
      </p:sp>
    </p:spTree>
    <p:extLst>
      <p:ext uri="{BB962C8B-B14F-4D97-AF65-F5344CB8AC3E}">
        <p14:creationId xmlns:p14="http://schemas.microsoft.com/office/powerpoint/2010/main" val="971276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E8BFB-A390-9C00-4244-5F1EB516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A4873987-4B21-4560-F206-B0EF6655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E9BCA821-B394-FAE9-47B7-3B0B7925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17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9BECD45C-ED4B-E895-2B0B-ACB0E6B09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gaz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16128192-70FC-3A9B-1329-D8C76850865A}"/>
              </a:ext>
            </a:extLst>
          </p:cNvPr>
          <p:cNvSpPr txBox="1"/>
          <p:nvPr/>
        </p:nvSpPr>
        <p:spPr>
          <a:xfrm>
            <a:off x="748865" y="424828"/>
            <a:ext cx="106049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u="sng" dirty="0">
                <a:solidFill>
                  <a:schemeClr val="bg2"/>
                </a:solidFill>
              </a:rPr>
              <a:t>Limitări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Cost ridicat: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Detectoarele cu laser sunt mai scumpe comparativ cu alte tipuri de detectoare (ex.: catalitice sau cu infraroșu).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Necesită reglaj fin: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Pentru a detecta gazele corect, este nevoie de calibrare precisă pe lungimea de undă corespunzătoare gazului țintă.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Limitat la gaze specifice: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Fiecare dispozitiv este conceput pentru unul sau câteva tipuri de gaze. Nu este potrivit pentru detecția generală a gazelor.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Interferențe spectrale: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Pot apărea erori în detecție dacă alte substanțe absorb lumina pe lungimi de undă similare.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14910FBC-893F-5E4D-E0B5-59589D3C33A0}"/>
              </a:ext>
            </a:extLst>
          </p:cNvPr>
          <p:cNvSpPr txBox="1"/>
          <p:nvPr/>
        </p:nvSpPr>
        <p:spPr>
          <a:xfrm>
            <a:off x="748865" y="3841148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o-RO" b="1" u="sng" dirty="0">
                <a:solidFill>
                  <a:schemeClr val="bg2"/>
                </a:solidFill>
              </a:rPr>
              <a:t>Măsuri de Întreținere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Verificare periodică: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Testarea acurateței sistemului cu ajutorul unor probe standard de gaz.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Curățare optică: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Asigurarea transparenței lentilelor sau ferestrelor laserului pentru a evita pierderea semnalului.</a:t>
            </a:r>
          </a:p>
          <a:p>
            <a:pPr algn="just">
              <a:buFont typeface="+mj-lt"/>
              <a:buAutoNum type="arabicPeriod"/>
            </a:pPr>
            <a:r>
              <a:rPr lang="ro-RO" b="1" dirty="0"/>
              <a:t>Recalibrare:</a:t>
            </a:r>
            <a:endParaRPr lang="ro-RO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Calibrare periodică pe gazele țintă pentru a asigura precizia măsurătorilor.</a:t>
            </a:r>
          </a:p>
        </p:txBody>
      </p:sp>
    </p:spTree>
    <p:extLst>
      <p:ext uri="{BB962C8B-B14F-4D97-AF65-F5344CB8AC3E}">
        <p14:creationId xmlns:p14="http://schemas.microsoft.com/office/powerpoint/2010/main" val="404921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2DCC3-3112-3F83-EB1F-F9DA1D99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313F916C-106E-0B60-2F1F-670603A9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6C0DC19B-B6D8-B1FD-F0D5-FB787CE1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18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4AC20B9D-A479-1823-9005-9E6D9FAA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fum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3EAF203A-2970-FC0B-0737-19BA1CC0CFFD}"/>
              </a:ext>
            </a:extLst>
          </p:cNvPr>
          <p:cNvSpPr txBox="1"/>
          <p:nvPr/>
        </p:nvSpPr>
        <p:spPr>
          <a:xfrm>
            <a:off x="612840" y="378180"/>
            <a:ext cx="4756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III. Senzori de fum sau monoxid de carbon</a:t>
            </a:r>
          </a:p>
          <a:p>
            <a:endParaRPr lang="ro-RO" b="1" dirty="0">
              <a:solidFill>
                <a:schemeClr val="bg2"/>
              </a:solidFill>
            </a:endParaRP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AD81EF72-309B-ED53-B6FF-2587F0F9E36E}"/>
              </a:ext>
            </a:extLst>
          </p:cNvPr>
          <p:cNvSpPr txBox="1"/>
          <p:nvPr/>
        </p:nvSpPr>
        <p:spPr>
          <a:xfrm>
            <a:off x="612840" y="850454"/>
            <a:ext cx="1074096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Funcție: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Detectarea fumului sau a monoxidului de carbon (CO) în spații închise, cu scopul de a preveni incendiile sau intoxicațiile.</a:t>
            </a:r>
          </a:p>
          <a:p>
            <a:pPr>
              <a:buFont typeface="Arial" panose="020B0604020202020204" pitchFamily="34" charset="0"/>
              <a:buChar char="•"/>
            </a:pPr>
            <a:endParaRPr lang="ro-RO" sz="1000" dirty="0"/>
          </a:p>
          <a:p>
            <a:r>
              <a:rPr lang="ro-RO" b="1" dirty="0">
                <a:solidFill>
                  <a:schemeClr val="tx2"/>
                </a:solidFill>
              </a:rPr>
              <a:t>Tipuri de senzori de fum:</a:t>
            </a:r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Optici (fotoelectrici):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Detectează particulele de fum care întrerup un fascicul de lumină.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Locuințe, birouri, clădiri publice.</a:t>
            </a:r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Ionici: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Detectează schimbările în conductivitatea aerului cauzate de particulele de fum.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Zone cu risc de incendiu rapid.</a:t>
            </a:r>
          </a:p>
        </p:txBody>
      </p:sp>
      <p:sp>
        <p:nvSpPr>
          <p:cNvPr id="12" name="CasetăText 11">
            <a:extLst>
              <a:ext uri="{FF2B5EF4-FFF2-40B4-BE49-F238E27FC236}">
                <a16:creationId xmlns:a16="http://schemas.microsoft.com/office/drawing/2014/main" id="{B1A99655-32F2-C4F3-B15D-C070297E8242}"/>
              </a:ext>
            </a:extLst>
          </p:cNvPr>
          <p:cNvSpPr txBox="1"/>
          <p:nvPr/>
        </p:nvSpPr>
        <p:spPr>
          <a:xfrm>
            <a:off x="612840" y="3841173"/>
            <a:ext cx="1074096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Senzori de monoxid de carbon: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Utilizează tehnologii electrochimice sau infraroșii pentru a detecta concentrațiile periculoase de CO.</a:t>
            </a:r>
          </a:p>
          <a:p>
            <a:pPr>
              <a:buFont typeface="Arial" panose="020B0604020202020204" pitchFamily="34" charset="0"/>
              <a:buChar char="•"/>
            </a:pPr>
            <a:endParaRPr lang="ro-RO" sz="1000" dirty="0"/>
          </a:p>
          <a:p>
            <a:r>
              <a:rPr lang="ro-RO" b="1" dirty="0">
                <a:solidFill>
                  <a:schemeClr val="tx2"/>
                </a:solidFill>
              </a:rPr>
              <a:t>Avantaje: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Oferă avertizări timpurii pentru evacuare sau intervenție.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Ușor de instalat în orice tip de clădire.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b="1" dirty="0"/>
              <a:t>Necesită întreținere minimă.</a:t>
            </a:r>
          </a:p>
        </p:txBody>
      </p:sp>
    </p:spTree>
    <p:extLst>
      <p:ext uri="{BB962C8B-B14F-4D97-AF65-F5344CB8AC3E}">
        <p14:creationId xmlns:p14="http://schemas.microsoft.com/office/powerpoint/2010/main" val="345437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B109-262B-0E56-2E43-EFE7FBF0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D10C864-7865-21BD-12D6-92E926D2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17A9BCFA-FA09-D8A7-800F-A24D23FA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19</a:t>
            </a:fld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8A93336-C443-FDAA-1925-EB9381408E0D}"/>
              </a:ext>
            </a:extLst>
          </p:cNvPr>
          <p:cNvSpPr txBox="1"/>
          <p:nvPr/>
        </p:nvSpPr>
        <p:spPr>
          <a:xfrm>
            <a:off x="2516306" y="5694054"/>
            <a:ext cx="7159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8 </a:t>
            </a:r>
            <a:r>
              <a:rPr lang="ro-RO" b="1" dirty="0">
                <a:solidFill>
                  <a:schemeClr val="bg2"/>
                </a:solidFill>
              </a:rPr>
              <a:t>Cum funcționează detectoarele de fum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7" name="Media online 6" title="How Do Smoke Detectors Work? | Spec. Sense">
            <a:hlinkClick r:id="" action="ppaction://media"/>
            <a:extLst>
              <a:ext uri="{FF2B5EF4-FFF2-40B4-BE49-F238E27FC236}">
                <a16:creationId xmlns:a16="http://schemas.microsoft.com/office/drawing/2014/main" id="{89F9DA67-6073-1F1A-CD4A-A92AF70AAF94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75584" y="328141"/>
            <a:ext cx="9440831" cy="5329900"/>
          </a:xfrm>
          <a:prstGeom prst="rect">
            <a:avLst/>
          </a:prstGeom>
        </p:spPr>
      </p:pic>
      <p:sp>
        <p:nvSpPr>
          <p:cNvPr id="9" name="Substituent subsol 6">
            <a:extLst>
              <a:ext uri="{FF2B5EF4-FFF2-40B4-BE49-F238E27FC236}">
                <a16:creationId xmlns:a16="http://schemas.microsoft.com/office/drawing/2014/main" id="{1CE7FCA0-7534-D2F3-9E65-3720C89A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Detectoare de fum</a:t>
            </a:r>
          </a:p>
        </p:txBody>
      </p:sp>
    </p:spTree>
    <p:extLst>
      <p:ext uri="{BB962C8B-B14F-4D97-AF65-F5344CB8AC3E}">
        <p14:creationId xmlns:p14="http://schemas.microsoft.com/office/powerpoint/2010/main" val="289257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B83D0-AFA8-D638-67D4-CFD5ADDB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9724C4C6-E7FC-A34A-C049-148731D7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76BFD943-43F0-7EF6-E20A-E6B9D452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20</a:t>
            </a:fld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5BD04596-6998-71C9-2A0D-340C1603B8C5}"/>
              </a:ext>
            </a:extLst>
          </p:cNvPr>
          <p:cNvSpPr txBox="1"/>
          <p:nvPr/>
        </p:nvSpPr>
        <p:spPr>
          <a:xfrm>
            <a:off x="612838" y="499901"/>
            <a:ext cx="4756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IV. Sprinklerele</a:t>
            </a:r>
          </a:p>
          <a:p>
            <a:endParaRPr lang="ro-RO" b="1" dirty="0">
              <a:solidFill>
                <a:schemeClr val="bg2"/>
              </a:solidFill>
            </a:endParaRPr>
          </a:p>
        </p:txBody>
      </p:sp>
      <p:sp>
        <p:nvSpPr>
          <p:cNvPr id="2" name="Substituent subsol 6">
            <a:extLst>
              <a:ext uri="{FF2B5EF4-FFF2-40B4-BE49-F238E27FC236}">
                <a16:creationId xmlns:a16="http://schemas.microsoft.com/office/drawing/2014/main" id="{5EDD4361-7D70-6D79-E34B-D4314C99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Sprinklere</a:t>
            </a:r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A6B9B961-F701-62F5-546E-10343E41B2D6}"/>
              </a:ext>
            </a:extLst>
          </p:cNvPr>
          <p:cNvSpPr txBox="1"/>
          <p:nvPr/>
        </p:nvSpPr>
        <p:spPr>
          <a:xfrm>
            <a:off x="612838" y="933052"/>
            <a:ext cx="107409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Funcție: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/>
              <a:t>Detectează și răspund automat la prezența unui incendiu, eliberând apă (sau alt agent de stingere) pentru a controla sau stinge focul înainte ca acesta să se extindă.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D98E6091-FEA4-597D-5505-19ADFD474F82}"/>
              </a:ext>
            </a:extLst>
          </p:cNvPr>
          <p:cNvSpPr txBox="1"/>
          <p:nvPr/>
        </p:nvSpPr>
        <p:spPr>
          <a:xfrm>
            <a:off x="612838" y="1966367"/>
            <a:ext cx="1074095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tx2"/>
                </a:solidFill>
              </a:rPr>
              <a:t>Principiul de Funcționare</a:t>
            </a:r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Declanșare la temperaturi ridicate: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Fiecare sprinkler este echipat cu un element sensibil la temperatură, cum ar fi: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ro-RO" b="1" dirty="0"/>
              <a:t>Tuburi de sticlă cu lichid colorat:</a:t>
            </a:r>
            <a:r>
              <a:rPr lang="ro-RO" dirty="0"/>
              <a:t> lichidul se dilată și sparge ampula la o temperatură prestabilită.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r>
              <a:rPr lang="ro-RO" b="1" dirty="0"/>
              <a:t>Disc bimetalic sau sigiliu cu punct de topire:</a:t>
            </a:r>
            <a:r>
              <a:rPr lang="ro-RO" dirty="0"/>
              <a:t> se deformează sau se topește la temperatura critică.</a:t>
            </a:r>
          </a:p>
          <a:p>
            <a:pPr marL="1200150" lvl="2" indent="-285750">
              <a:buFont typeface="Courier New" panose="02070309020205020404" pitchFamily="49" charset="0"/>
              <a:buChar char="o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Distribuție a apei: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După declanșare, sprinklerul permite apei să treacă prin orificiul său și să fie dispersată sub formă de jet sau stropi printr-un deflector special.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Localizarea incendiului: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Spre deosebire de alte sisteme, doar sprinklerele din zona afectată de temperaturile înalte se activează, minimizând pagubele provocate de apă.</a:t>
            </a:r>
          </a:p>
        </p:txBody>
      </p:sp>
    </p:spTree>
    <p:extLst>
      <p:ext uri="{BB962C8B-B14F-4D97-AF65-F5344CB8AC3E}">
        <p14:creationId xmlns:p14="http://schemas.microsoft.com/office/powerpoint/2010/main" val="217890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5E7B7-7EAB-DB4B-23D9-EC3E92E5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E438897C-8B0B-A754-5189-5CAF1B62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5E516945-248B-8B9C-56AC-3352EFBDB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21</a:t>
            </a:fld>
            <a:endParaRPr lang="ro-RO" dirty="0"/>
          </a:p>
        </p:txBody>
      </p:sp>
      <p:sp>
        <p:nvSpPr>
          <p:cNvPr id="2" name="Substituent subsol 6">
            <a:extLst>
              <a:ext uri="{FF2B5EF4-FFF2-40B4-BE49-F238E27FC236}">
                <a16:creationId xmlns:a16="http://schemas.microsoft.com/office/drawing/2014/main" id="{9DD427CA-1C8B-5B4E-D45D-EF2E520D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Sprinklere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2293D345-4EEB-66A2-0245-12156B357636}"/>
              </a:ext>
            </a:extLst>
          </p:cNvPr>
          <p:cNvSpPr txBox="1"/>
          <p:nvPr/>
        </p:nvSpPr>
        <p:spPr>
          <a:xfrm>
            <a:off x="778643" y="680480"/>
            <a:ext cx="105751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Tipuri de Sprinklere</a:t>
            </a:r>
          </a:p>
          <a:p>
            <a:endParaRPr lang="ro-RO" b="1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ro-RO" b="1" dirty="0"/>
              <a:t>Sprinklere standard: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Proiectate pentru a acoperi zone largi.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Spații comerciale, clădiri rezidențiale.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/>
              <a:t>Sprinklere ascunse: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Se integrează în designul clădirii, fiind acoperite de un panou estetic care se desprinde la căldură.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Hoteluri, clădiri de birouri.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/>
              <a:t>Sprinklere de răcire: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Utilizate pentru protecția echipamentelor industriale prin răcirea acestora.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Depozite, fabrici.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/>
              <a:t>Sprinklere cu agent special: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Utilizate cu agenți de stingere specifici, cum ar fi spuma, CO</a:t>
            </a:r>
            <a:r>
              <a:rPr lang="ro-RO" baseline="-25000" dirty="0"/>
              <a:t>2</a:t>
            </a:r>
            <a:r>
              <a:rPr lang="ro-RO" dirty="0"/>
              <a:t> sau pulberile chimice.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b="1" dirty="0"/>
              <a:t>Aplicații:</a:t>
            </a:r>
            <a:r>
              <a:rPr lang="ro-RO" dirty="0"/>
              <a:t> Hangare de avioane, laboratoare, servere.</a:t>
            </a:r>
          </a:p>
        </p:txBody>
      </p:sp>
    </p:spTree>
    <p:extLst>
      <p:ext uri="{BB962C8B-B14F-4D97-AF65-F5344CB8AC3E}">
        <p14:creationId xmlns:p14="http://schemas.microsoft.com/office/powerpoint/2010/main" val="55975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83133-EB32-2102-21A1-FE38674A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03EBC7ED-42EB-412F-C796-ABD35E958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9CCCF0B1-D240-EFE1-34BA-F5786B4B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22</a:t>
            </a:fld>
            <a:endParaRPr lang="ro-RO" dirty="0"/>
          </a:p>
        </p:txBody>
      </p:sp>
      <p:sp>
        <p:nvSpPr>
          <p:cNvPr id="2" name="Substituent subsol 6">
            <a:extLst>
              <a:ext uri="{FF2B5EF4-FFF2-40B4-BE49-F238E27FC236}">
                <a16:creationId xmlns:a16="http://schemas.microsoft.com/office/drawing/2014/main" id="{D8DFA470-731D-7C55-98C2-ABD27435F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Sprinklere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99F98C61-9EA0-61F2-8E74-1FA0510F3F2D}"/>
              </a:ext>
            </a:extLst>
          </p:cNvPr>
          <p:cNvSpPr txBox="1"/>
          <p:nvPr/>
        </p:nvSpPr>
        <p:spPr>
          <a:xfrm>
            <a:off x="695527" y="430491"/>
            <a:ext cx="1065827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Avantaje ale sprinklerelor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Răspuns automat:</a:t>
            </a:r>
            <a:r>
              <a:rPr lang="ro-RO" dirty="0"/>
              <a:t> Nu necesită intervenție umană.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Eficiență ridicată:</a:t>
            </a:r>
            <a:r>
              <a:rPr lang="ro-RO" dirty="0"/>
              <a:t> Poate controla incendiile rapid, reducând daunele.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Economie de resurse:</a:t>
            </a:r>
            <a:r>
              <a:rPr lang="ro-RO" dirty="0"/>
              <a:t> Activează doar sprinklerele din zona afectată.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Reducerea pierderilor:</a:t>
            </a:r>
            <a:r>
              <a:rPr lang="ro-RO" dirty="0"/>
              <a:t> Oferă protecție pentru vieți, clădiri și bunuri.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Conformitate cu standardele:</a:t>
            </a:r>
            <a:r>
              <a:rPr lang="ro-RO" dirty="0"/>
              <a:t> Obligatorii în multe tipuri de clădiri conform legislației privind siguranța la incendiu.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D6F70CCC-F008-E823-10CA-3A4C289C395B}"/>
              </a:ext>
            </a:extLst>
          </p:cNvPr>
          <p:cNvSpPr txBox="1"/>
          <p:nvPr/>
        </p:nvSpPr>
        <p:spPr>
          <a:xfrm>
            <a:off x="695527" y="3763152"/>
            <a:ext cx="1065827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Limite ale sprinklerelor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Nu sunt eficiente în stingerea incendiilor provocate de metale (de exemplu, incendiile de magneziu sau sodiu).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sz="1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Necesită alimentare continuă cu apă sub presiune (rezolvabilă prin pompe și rezervoare dedicate).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o-RO" sz="1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ro-RO" b="1" dirty="0"/>
              <a:t>Pot provoca daune provocate de apă în cazul activării accidentale.</a:t>
            </a:r>
          </a:p>
        </p:txBody>
      </p:sp>
    </p:spTree>
    <p:extLst>
      <p:ext uri="{BB962C8B-B14F-4D97-AF65-F5344CB8AC3E}">
        <p14:creationId xmlns:p14="http://schemas.microsoft.com/office/powerpoint/2010/main" val="30043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B109-262B-0E56-2E43-EFE7FBF0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D10C864-7865-21BD-12D6-92E926D2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17A9BCFA-FA09-D8A7-800F-A24D23FA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23</a:t>
            </a:fld>
            <a:endParaRPr lang="ro-RO" dirty="0"/>
          </a:p>
        </p:txBody>
      </p:sp>
      <p:sp>
        <p:nvSpPr>
          <p:cNvPr id="3" name="Substituent subsol 6">
            <a:extLst>
              <a:ext uri="{FF2B5EF4-FFF2-40B4-BE49-F238E27FC236}">
                <a16:creationId xmlns:a16="http://schemas.microsoft.com/office/drawing/2014/main" id="{C1B6F7F2-EF8C-EFC4-1936-9843C9ABA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Sprinklere</a:t>
            </a:r>
          </a:p>
        </p:txBody>
      </p:sp>
      <p:pic>
        <p:nvPicPr>
          <p:cNvPr id="2" name="Media online 1" title="How fire sprinkler systems work (3D Animation)">
            <a:hlinkClick r:id="" action="ppaction://media"/>
            <a:extLst>
              <a:ext uri="{FF2B5EF4-FFF2-40B4-BE49-F238E27FC236}">
                <a16:creationId xmlns:a16="http://schemas.microsoft.com/office/drawing/2014/main" id="{5D342059-AF61-C120-2064-8C5F775EF17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91824" y="381146"/>
            <a:ext cx="9600431" cy="5420003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08A93336-C443-FDAA-1925-EB9381408E0D}"/>
              </a:ext>
            </a:extLst>
          </p:cNvPr>
          <p:cNvSpPr txBox="1"/>
          <p:nvPr/>
        </p:nvSpPr>
        <p:spPr>
          <a:xfrm>
            <a:off x="2884331" y="5842707"/>
            <a:ext cx="6423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9 </a:t>
            </a:r>
            <a:r>
              <a:rPr lang="ro-RO" b="1" dirty="0">
                <a:solidFill>
                  <a:schemeClr val="bg2"/>
                </a:solidFill>
              </a:rPr>
              <a:t>Cum funcționează un sprinkler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981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CD34-F6B1-B790-5337-C12F284C6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89E0CDCB-FC13-5B17-3075-DDDF72F8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5FE0CCEA-21A2-1964-EFC3-8F7342A6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24</a:t>
            </a:fld>
            <a:endParaRPr lang="ro-RO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EFAD7400-F5FF-3338-8214-67B54C5C1F40}"/>
              </a:ext>
            </a:extLst>
          </p:cNvPr>
          <p:cNvSpPr txBox="1"/>
          <p:nvPr/>
        </p:nvSpPr>
        <p:spPr>
          <a:xfrm>
            <a:off x="612838" y="499901"/>
            <a:ext cx="4756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chemeClr val="bg2"/>
                </a:solidFill>
              </a:rPr>
              <a:t>V. Clapetele </a:t>
            </a:r>
            <a:r>
              <a:rPr lang="ro-RO" b="1" dirty="0" err="1">
                <a:solidFill>
                  <a:schemeClr val="bg2"/>
                </a:solidFill>
              </a:rPr>
              <a:t>antifoc</a:t>
            </a:r>
            <a:endParaRPr lang="ro-RO" b="1" dirty="0">
              <a:solidFill>
                <a:schemeClr val="bg2"/>
              </a:solidFill>
            </a:endParaRPr>
          </a:p>
          <a:p>
            <a:endParaRPr lang="ro-RO" b="1" dirty="0">
              <a:solidFill>
                <a:schemeClr val="bg2"/>
              </a:solidFill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77C5EF6A-E3B8-3E19-DC35-B902D38BE3FD}"/>
              </a:ext>
            </a:extLst>
          </p:cNvPr>
          <p:cNvSpPr txBox="1"/>
          <p:nvPr/>
        </p:nvSpPr>
        <p:spPr>
          <a:xfrm>
            <a:off x="612838" y="2262156"/>
            <a:ext cx="10575157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ro-RO" b="1" u="sng" dirty="0">
                <a:solidFill>
                  <a:schemeClr val="tx2"/>
                </a:solidFill>
              </a:rPr>
              <a:t>Funcții Principale</a:t>
            </a:r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Împiedicarea propagării incendiului: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Clapeta </a:t>
            </a:r>
            <a:r>
              <a:rPr lang="ro-RO" dirty="0" err="1"/>
              <a:t>antifoc</a:t>
            </a:r>
            <a:r>
              <a:rPr lang="ro-RO" dirty="0"/>
              <a:t> se închide automat pentru a bloca trecerea flăcărilor sau temperaturilor ridicate între încăperi sau zone ale clădirii.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Controlul răspândirii fumului: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Aceste clapete împiedică distribuirea fumului și gazelor toxice prin rețeaua de ventilație, protejând ocupanții și facilitând evacuarea.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bg2"/>
                </a:solidFill>
              </a:rPr>
              <a:t>Menținerea integrității compartimentelor rezistente la foc:</a:t>
            </a:r>
            <a:endParaRPr lang="ro-RO" dirty="0">
              <a:solidFill>
                <a:schemeClr val="bg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Clapetele asigură izolarea compartimentelor </a:t>
            </a:r>
            <a:r>
              <a:rPr lang="ro-RO" dirty="0" err="1"/>
              <a:t>antifoc</a:t>
            </a:r>
            <a:r>
              <a:rPr lang="ro-RO" dirty="0"/>
              <a:t> în conformitate cu cerințele de siguranță împotriva incendiilor.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F3ABFE55-0385-980A-EAEF-B5F4176A4F5D}"/>
              </a:ext>
            </a:extLst>
          </p:cNvPr>
          <p:cNvSpPr txBox="1"/>
          <p:nvPr/>
        </p:nvSpPr>
        <p:spPr>
          <a:xfrm>
            <a:off x="612838" y="862518"/>
            <a:ext cx="107409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dirty="0"/>
              <a:t>Sunt considerate organe de siguranță esențiale în sistemele de ventilație. Ele </a:t>
            </a:r>
            <a:r>
              <a:rPr lang="ro-RO" u="sng" dirty="0"/>
              <a:t>joacă un rol critic în prevenirea propagării incendiilor și protejarea zonelor sigure în cazul unui incendi</a:t>
            </a:r>
            <a:r>
              <a:rPr lang="ro-RO" dirty="0"/>
              <a:t>u. Aceste dispozitive sunt integrate în rețelele de ventilație și climatizare pentru a limita răspândirea flăcărilor, fumului sau gazelor toxice prin conducte.</a:t>
            </a:r>
          </a:p>
        </p:txBody>
      </p:sp>
      <p:sp>
        <p:nvSpPr>
          <p:cNvPr id="11" name="Substituent subsol 6">
            <a:extLst>
              <a:ext uri="{FF2B5EF4-FFF2-40B4-BE49-F238E27FC236}">
                <a16:creationId xmlns:a16="http://schemas.microsoft.com/office/drawing/2014/main" id="{DDE72858-BED9-4DB1-52A8-DA079FF4A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Clapete </a:t>
            </a:r>
            <a:r>
              <a:rPr lang="ro-RO" dirty="0" err="1"/>
              <a:t>antifoc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48391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B83DA-2F6A-86C4-58DE-F4CF1CE86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D594CA73-9D7E-593E-1724-62AC43FEC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86BF4DD1-D227-F462-A088-BF860E8B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25</a:t>
            </a:fld>
            <a:endParaRPr lang="ro-RO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49708A74-AAA6-BB57-5BC1-4C6084CA41AA}"/>
              </a:ext>
            </a:extLst>
          </p:cNvPr>
          <p:cNvSpPr txBox="1"/>
          <p:nvPr/>
        </p:nvSpPr>
        <p:spPr>
          <a:xfrm>
            <a:off x="778643" y="559104"/>
            <a:ext cx="105751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Principiul de Funcționare</a:t>
            </a:r>
          </a:p>
          <a:p>
            <a:r>
              <a:rPr lang="ro-RO" dirty="0"/>
              <a:t>Clapetele </a:t>
            </a:r>
            <a:r>
              <a:rPr lang="ro-RO" dirty="0" err="1"/>
              <a:t>antifoc</a:t>
            </a:r>
            <a:r>
              <a:rPr lang="ro-RO" dirty="0"/>
              <a:t> sunt echipate cu un mecanism de declanșare care se activează la detectarea anumitor condiții:</a:t>
            </a:r>
          </a:p>
          <a:p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Fuzibil termic: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Clapeta este ținută deschisă de un element fuzibil care se topește la o temperatură predeterminată (de exemplu, 72 °C). După topirea fuzibilului, clapeta se închide automat.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Declanșare electrică: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Conectate la un sistem de detecție a incendiilor, clapetele pot fi activate electric, atunci când un detector de fum sau căldură emite un semnal.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Mecanism mecanic cu arc: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Clapetele sunt prevăzute cu arcuri care forțează închiderea rapidă în momentul activării.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ro-RO" dirty="0"/>
          </a:p>
          <a:p>
            <a:pPr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Control pneumatic: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Unele modele sunt acționate prin presiunea aerului, fiind integrate cu sisteme de siguranță mai complexe.</a:t>
            </a:r>
          </a:p>
        </p:txBody>
      </p:sp>
      <p:sp>
        <p:nvSpPr>
          <p:cNvPr id="7" name="Substituent subsol 6">
            <a:extLst>
              <a:ext uri="{FF2B5EF4-FFF2-40B4-BE49-F238E27FC236}">
                <a16:creationId xmlns:a16="http://schemas.microsoft.com/office/drawing/2014/main" id="{A63BBEEB-3734-C579-93C0-6A313D57C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Clapete </a:t>
            </a:r>
            <a:r>
              <a:rPr lang="ro-RO" dirty="0" err="1"/>
              <a:t>antifoc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75897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E033A-6678-645F-3372-DB632C6A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233AC630-B472-1019-1B8E-8CA33BFC9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032AF2C1-8126-466E-4B05-92BC007B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26</a:t>
            </a:fld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BFDDCAB5-330F-D170-8313-2B4421D4BA28}"/>
              </a:ext>
            </a:extLst>
          </p:cNvPr>
          <p:cNvSpPr txBox="1"/>
          <p:nvPr/>
        </p:nvSpPr>
        <p:spPr>
          <a:xfrm>
            <a:off x="613273" y="377156"/>
            <a:ext cx="92381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Tipuri de clapete </a:t>
            </a:r>
            <a:r>
              <a:rPr lang="ro-RO" b="1" u="sng" dirty="0" err="1">
                <a:solidFill>
                  <a:schemeClr val="bg2"/>
                </a:solidFill>
              </a:rPr>
              <a:t>antifoc</a:t>
            </a:r>
            <a:endParaRPr lang="ro-RO" b="1" u="sng" dirty="0">
              <a:solidFill>
                <a:schemeClr val="bg2"/>
              </a:solidFill>
            </a:endParaRPr>
          </a:p>
          <a:p>
            <a:pPr>
              <a:buFont typeface="+mj-lt"/>
              <a:buAutoNum type="arabicPeriod"/>
            </a:pPr>
            <a:r>
              <a:rPr lang="ro-RO" b="1" dirty="0"/>
              <a:t>Clapete de secționare: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Instalate în rețelele de ventilație pentru a izola complet un segment al sistemului.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Clapete de fum: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Special concepute pentru a controla răspândirea fumului în zone sigure.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Clapete combinate </a:t>
            </a:r>
            <a:r>
              <a:rPr lang="ro-RO" b="1" dirty="0" err="1"/>
              <a:t>antifoc</a:t>
            </a:r>
            <a:r>
              <a:rPr lang="ro-RO" b="1" dirty="0"/>
              <a:t> și </a:t>
            </a:r>
            <a:r>
              <a:rPr lang="ro-RO" b="1" dirty="0" err="1"/>
              <a:t>antifum</a:t>
            </a:r>
            <a:r>
              <a:rPr lang="ro-RO" b="1" dirty="0"/>
              <a:t>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Asigură protecție atât împotriva incendiilor, cât și a fumului.</a:t>
            </a:r>
          </a:p>
          <a:p>
            <a:pPr>
              <a:buFont typeface="+mj-lt"/>
              <a:buAutoNum type="arabicPeriod"/>
            </a:pPr>
            <a:r>
              <a:rPr lang="ro-RO" b="1" dirty="0"/>
              <a:t>Clapete motorizate:</a:t>
            </a:r>
            <a:endParaRPr lang="ro-RO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o-RO" dirty="0"/>
              <a:t>Controlate de un </a:t>
            </a:r>
            <a:r>
              <a:rPr lang="ro-RO" dirty="0" err="1"/>
              <a:t>actuator</a:t>
            </a:r>
            <a:r>
              <a:rPr lang="ro-RO" dirty="0"/>
              <a:t> electric sau pneumatic, permit o integrare avansată cu sistemele de management al clădirilor (BMS - Building Management </a:t>
            </a:r>
            <a:r>
              <a:rPr lang="ro-RO" dirty="0" err="1"/>
              <a:t>System</a:t>
            </a:r>
            <a:r>
              <a:rPr lang="ro-RO" dirty="0"/>
              <a:t>).</a:t>
            </a:r>
          </a:p>
        </p:txBody>
      </p:sp>
      <p:sp>
        <p:nvSpPr>
          <p:cNvPr id="9" name="CasetăText 8">
            <a:extLst>
              <a:ext uri="{FF2B5EF4-FFF2-40B4-BE49-F238E27FC236}">
                <a16:creationId xmlns:a16="http://schemas.microsoft.com/office/drawing/2014/main" id="{E17F5352-5162-A0E4-9D11-30E502C28D28}"/>
              </a:ext>
            </a:extLst>
          </p:cNvPr>
          <p:cNvSpPr txBox="1"/>
          <p:nvPr/>
        </p:nvSpPr>
        <p:spPr>
          <a:xfrm>
            <a:off x="613273" y="3293397"/>
            <a:ext cx="106347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b="1" u="sng" dirty="0">
                <a:solidFill>
                  <a:schemeClr val="bg2"/>
                </a:solidFill>
              </a:rPr>
              <a:t>Aplicații</a:t>
            </a:r>
          </a:p>
          <a:p>
            <a:pPr algn="just"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Clădiri comerciale și rezidențiale: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Sisteme de ventilație centralizată în clădiri de birouri, mall-uri și blocuri de locuințe.</a:t>
            </a:r>
          </a:p>
          <a:p>
            <a:pPr algn="just"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Industria hotelieră: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Clapete </a:t>
            </a:r>
            <a:r>
              <a:rPr lang="ro-RO" dirty="0" err="1"/>
              <a:t>antifoc</a:t>
            </a:r>
            <a:r>
              <a:rPr lang="ro-RO" dirty="0"/>
              <a:t> integrate în sistemele de ventilație din hoteluri pentru protecția oaspeților.</a:t>
            </a:r>
          </a:p>
          <a:p>
            <a:pPr algn="just"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Clădiri industriale: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Utilizate în fabrici sau depozite unde riscul de incendiu este ridicat.</a:t>
            </a:r>
          </a:p>
          <a:p>
            <a:pPr algn="just">
              <a:buFont typeface="+mj-lt"/>
              <a:buAutoNum type="arabicPeriod"/>
            </a:pPr>
            <a:r>
              <a:rPr lang="ro-RO" b="1" dirty="0">
                <a:solidFill>
                  <a:schemeClr val="tx2"/>
                </a:solidFill>
              </a:rPr>
              <a:t>Infrastructură publică:</a:t>
            </a:r>
            <a:endParaRPr lang="ro-RO" dirty="0">
              <a:solidFill>
                <a:schemeClr val="tx2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ro-RO" dirty="0"/>
              <a:t>Instalații în spitale, școli și aeroporturi pentru siguranța utilizatorilor.</a:t>
            </a:r>
          </a:p>
        </p:txBody>
      </p:sp>
      <p:pic>
        <p:nvPicPr>
          <p:cNvPr id="1026" name="Picture 2" descr="clapeta-antifoc-motorizata-actuator-100-560mm-komfovent-UVA-M">
            <a:extLst>
              <a:ext uri="{FF2B5EF4-FFF2-40B4-BE49-F238E27FC236}">
                <a16:creationId xmlns:a16="http://schemas.microsoft.com/office/drawing/2014/main" id="{A93AF3ED-AB35-B7B3-C56E-14CB0521E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2" t="9310" r="26067" b="13912"/>
          <a:stretch/>
        </p:blipFill>
        <p:spPr bwMode="auto">
          <a:xfrm>
            <a:off x="9347764" y="216553"/>
            <a:ext cx="2675108" cy="244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0F14E78F-F82F-D3B8-13E8-40FB98F4C2AB}"/>
              </a:ext>
            </a:extLst>
          </p:cNvPr>
          <p:cNvSpPr txBox="1"/>
          <p:nvPr/>
        </p:nvSpPr>
        <p:spPr>
          <a:xfrm>
            <a:off x="9285237" y="2666273"/>
            <a:ext cx="28001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Fig. 5 Clapetă </a:t>
            </a:r>
            <a:r>
              <a:rPr lang="ro-RO" b="1" dirty="0" err="1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antifoc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motorizată </a:t>
            </a:r>
          </a:p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ventilatie-recuperare.ro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r>
              <a:rPr lang="ro-RO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ro-RO" dirty="0">
              <a:solidFill>
                <a:schemeClr val="bg2"/>
              </a:solidFill>
            </a:endParaRPr>
          </a:p>
        </p:txBody>
      </p:sp>
      <p:sp>
        <p:nvSpPr>
          <p:cNvPr id="11" name="Substituent subsol 6">
            <a:extLst>
              <a:ext uri="{FF2B5EF4-FFF2-40B4-BE49-F238E27FC236}">
                <a16:creationId xmlns:a16="http://schemas.microsoft.com/office/drawing/2014/main" id="{33DD9BF9-FDF8-2DDC-1069-977C8DF1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Clapete </a:t>
            </a:r>
            <a:r>
              <a:rPr lang="ro-RO" dirty="0" err="1"/>
              <a:t>antifoc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8327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B109-262B-0E56-2E43-EFE7FBF0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D10C864-7865-21BD-12D6-92E926D2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17A9BCFA-FA09-D8A7-800F-A24D23FA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27</a:t>
            </a:fld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8A93336-C443-FDAA-1925-EB9381408E0D}"/>
              </a:ext>
            </a:extLst>
          </p:cNvPr>
          <p:cNvSpPr txBox="1"/>
          <p:nvPr/>
        </p:nvSpPr>
        <p:spPr>
          <a:xfrm>
            <a:off x="2884331" y="5704207"/>
            <a:ext cx="6423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10 </a:t>
            </a:r>
            <a:r>
              <a:rPr lang="ro-RO" b="1" dirty="0">
                <a:solidFill>
                  <a:schemeClr val="bg2"/>
                </a:solidFill>
              </a:rPr>
              <a:t>Cum funcționează o clapetă </a:t>
            </a:r>
            <a:r>
              <a:rPr lang="ro-RO" b="1" dirty="0" err="1">
                <a:solidFill>
                  <a:schemeClr val="bg2"/>
                </a:solidFill>
              </a:rPr>
              <a:t>antifoc</a:t>
            </a:r>
            <a:r>
              <a:rPr lang="ro-RO" b="1" dirty="0">
                <a:solidFill>
                  <a:schemeClr val="bg2"/>
                </a:solidFill>
              </a:rPr>
              <a:t> cu fuzibil - animație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5" name="Media online 4" title="Fire damper working in case of fire, (fire damper testing working animation)">
            <a:hlinkClick r:id="" action="ppaction://media"/>
            <a:extLst>
              <a:ext uri="{FF2B5EF4-FFF2-40B4-BE49-F238E27FC236}">
                <a16:creationId xmlns:a16="http://schemas.microsoft.com/office/drawing/2014/main" id="{9741B7D4-E9E6-9A55-00B7-B7B6AA77F21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382683" y="382322"/>
            <a:ext cx="9426634" cy="5321885"/>
          </a:xfrm>
          <a:prstGeom prst="rect">
            <a:avLst/>
          </a:prstGeom>
        </p:spPr>
      </p:pic>
      <p:sp>
        <p:nvSpPr>
          <p:cNvPr id="7" name="Substituent subsol 6">
            <a:extLst>
              <a:ext uri="{FF2B5EF4-FFF2-40B4-BE49-F238E27FC236}">
                <a16:creationId xmlns:a16="http://schemas.microsoft.com/office/drawing/2014/main" id="{C0740902-9EE1-2AC9-B861-F7542F670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Clapete </a:t>
            </a:r>
            <a:r>
              <a:rPr lang="ro-RO" dirty="0" err="1"/>
              <a:t>antifoc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909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B109-262B-0E56-2E43-EFE7FBF0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4D10C864-7865-21BD-12D6-92E926D2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17A9BCFA-FA09-D8A7-800F-A24D23FA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28</a:t>
            </a:fld>
            <a:endParaRPr lang="ro-RO" dirty="0"/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08A93336-C443-FDAA-1925-EB9381408E0D}"/>
              </a:ext>
            </a:extLst>
          </p:cNvPr>
          <p:cNvSpPr txBox="1"/>
          <p:nvPr/>
        </p:nvSpPr>
        <p:spPr>
          <a:xfrm>
            <a:off x="2878642" y="5694054"/>
            <a:ext cx="6423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Video 11 </a:t>
            </a:r>
            <a:r>
              <a:rPr lang="ro-RO" b="1" dirty="0">
                <a:solidFill>
                  <a:schemeClr val="bg2"/>
                </a:solidFill>
              </a:rPr>
              <a:t>Testare clapetă </a:t>
            </a:r>
            <a:r>
              <a:rPr lang="ro-RO" b="1" dirty="0" err="1">
                <a:solidFill>
                  <a:schemeClr val="bg2"/>
                </a:solidFill>
              </a:rPr>
              <a:t>antifoc</a:t>
            </a:r>
            <a:r>
              <a:rPr lang="ro-RO" b="1" dirty="0">
                <a:solidFill>
                  <a:schemeClr val="bg2"/>
                </a:solidFill>
              </a:rPr>
              <a:t> cu fuzibil 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[</a:t>
            </a:r>
            <a:r>
              <a:rPr lang="ro-RO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b="1" dirty="0">
                <a:solidFill>
                  <a:schemeClr val="bg2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  <a:endParaRPr lang="ro-RO" dirty="0">
              <a:solidFill>
                <a:schemeClr val="bg2"/>
              </a:solidFill>
            </a:endParaRPr>
          </a:p>
        </p:txBody>
      </p:sp>
      <p:pic>
        <p:nvPicPr>
          <p:cNvPr id="2" name="Media online 1" title="How does a Fire Damper Work?">
            <a:hlinkClick r:id="" action="ppaction://media"/>
            <a:extLst>
              <a:ext uri="{FF2B5EF4-FFF2-40B4-BE49-F238E27FC236}">
                <a16:creationId xmlns:a16="http://schemas.microsoft.com/office/drawing/2014/main" id="{35B7BE24-315F-1B07-1F49-80066105318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495305" y="413423"/>
            <a:ext cx="9190013" cy="5188298"/>
          </a:xfrm>
          <a:prstGeom prst="rect">
            <a:avLst/>
          </a:prstGeom>
        </p:spPr>
      </p:pic>
      <p:sp>
        <p:nvSpPr>
          <p:cNvPr id="7" name="Substituent subsol 6">
            <a:extLst>
              <a:ext uri="{FF2B5EF4-FFF2-40B4-BE49-F238E27FC236}">
                <a16:creationId xmlns:a16="http://schemas.microsoft.com/office/drawing/2014/main" id="{1671DEA9-B3B2-64CB-1390-FC7F2B89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Clapete </a:t>
            </a:r>
            <a:r>
              <a:rPr lang="ro-RO" dirty="0" err="1"/>
              <a:t>antifoc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6969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F37A-0E93-DB81-340C-AD1ED66C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stituent dată 5">
            <a:extLst>
              <a:ext uri="{FF2B5EF4-FFF2-40B4-BE49-F238E27FC236}">
                <a16:creationId xmlns:a16="http://schemas.microsoft.com/office/drawing/2014/main" id="{DD0D303C-3B27-4AAE-F50C-8C7A0244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o-RO" dirty="0"/>
              <a:t>10.12.2025</a:t>
            </a:r>
          </a:p>
        </p:txBody>
      </p:sp>
      <p:sp>
        <p:nvSpPr>
          <p:cNvPr id="8" name="Substituent număr diapozitiv 7">
            <a:extLst>
              <a:ext uri="{FF2B5EF4-FFF2-40B4-BE49-F238E27FC236}">
                <a16:creationId xmlns:a16="http://schemas.microsoft.com/office/drawing/2014/main" id="{217AE6E1-1A14-61A0-0D4E-7748B0E3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D581BC7-E183-40DB-AC97-C19EA4EB8894}" type="slidenum">
              <a:rPr lang="ro-RO" smtClean="0"/>
              <a:pPr rtl="0"/>
              <a:t>29</a:t>
            </a:fld>
            <a:endParaRPr lang="ro-RO" dirty="0"/>
          </a:p>
        </p:txBody>
      </p:sp>
      <p:sp>
        <p:nvSpPr>
          <p:cNvPr id="4" name="Substituent subsol 6">
            <a:extLst>
              <a:ext uri="{FF2B5EF4-FFF2-40B4-BE49-F238E27FC236}">
                <a16:creationId xmlns:a16="http://schemas.microsoft.com/office/drawing/2014/main" id="{AE6E1516-ABD8-5E40-6CAA-417F921F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69961" y="5878720"/>
            <a:ext cx="2049894" cy="297307"/>
          </a:xfrm>
        </p:spPr>
        <p:txBody>
          <a:bodyPr rtlCol="0"/>
          <a:lstStyle/>
          <a:p>
            <a:pPr rtl="0"/>
            <a:r>
              <a:rPr lang="ro-RO" dirty="0"/>
              <a:t>Întrebări de sinteză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8F59B7E0-2C5B-D0F0-5FEB-F2987C135A91}"/>
              </a:ext>
            </a:extLst>
          </p:cNvPr>
          <p:cNvSpPr txBox="1"/>
          <p:nvPr/>
        </p:nvSpPr>
        <p:spPr>
          <a:xfrm>
            <a:off x="778643" y="517403"/>
            <a:ext cx="10575157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ro-RO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 este funcția principală a supapelor de siguranță?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Reglarea fluxului de fluid într-un sistem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Creșterea presiunii pentru o performanță mai bună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Eliberarea presiunii excesive pentru prevenirea avariilor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Închiderea completă a sistemului la atingerea unei presiuni maxime</a:t>
            </a:r>
          </a:p>
          <a:p>
            <a:pPr marL="360363"/>
            <a:endParaRPr lang="en-US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ro-RO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 sunt funcțiile principale ale detectoarelor de gaz?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Detectează prezența gazelor periculoase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Reglarea fluxului de gaz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Alertează utilizatorii în caz de concentrații periculoase de gaze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Îmbunătățește eficiența consumului de gaz</a:t>
            </a:r>
          </a:p>
          <a:p>
            <a:pPr fontAlgn="base"/>
            <a:endParaRPr lang="en-US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/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ro-RO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 sunt avantajele utilizării clapetelor </a:t>
            </a:r>
            <a:r>
              <a:rPr lang="ro-RO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antifoc</a:t>
            </a:r>
            <a:r>
              <a:rPr lang="ro-RO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360363"/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Prevenirea propagării flăcărilor între încăperi</a:t>
            </a:r>
            <a:b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Permite un flux constant de aer proaspăt în clădire</a:t>
            </a:r>
            <a:b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Protejează ocupanții de fum și gaze toxice</a:t>
            </a:r>
            <a:b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Mărește viteza de evacuare a fumului din clădiri</a:t>
            </a:r>
            <a:b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o-RO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e) Menține integritatea compartimentelor rezistente la foc conform normelor de siguranță</a:t>
            </a:r>
          </a:p>
        </p:txBody>
      </p:sp>
      <p:sp>
        <p:nvSpPr>
          <p:cNvPr id="7" name="Dreptunghi 6">
            <a:extLst>
              <a:ext uri="{FF2B5EF4-FFF2-40B4-BE49-F238E27FC236}">
                <a16:creationId xmlns:a16="http://schemas.microsoft.com/office/drawing/2014/main" id="{103B5202-E5B2-1CAB-AE8F-A4F66DB30161}"/>
              </a:ext>
            </a:extLst>
          </p:cNvPr>
          <p:cNvSpPr/>
          <p:nvPr/>
        </p:nvSpPr>
        <p:spPr>
          <a:xfrm>
            <a:off x="778644" y="549652"/>
            <a:ext cx="5476242" cy="2973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9" name="Săgeată: dreapta 8">
            <a:extLst>
              <a:ext uri="{FF2B5EF4-FFF2-40B4-BE49-F238E27FC236}">
                <a16:creationId xmlns:a16="http://schemas.microsoft.com/office/drawing/2014/main" id="{2484BAB4-89EC-92CD-4C57-04C86BF46671}"/>
              </a:ext>
            </a:extLst>
          </p:cNvPr>
          <p:cNvSpPr/>
          <p:nvPr/>
        </p:nvSpPr>
        <p:spPr>
          <a:xfrm>
            <a:off x="838200" y="1429967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0" name="Dreptunghi 9">
            <a:extLst>
              <a:ext uri="{FF2B5EF4-FFF2-40B4-BE49-F238E27FC236}">
                <a16:creationId xmlns:a16="http://schemas.microsoft.com/office/drawing/2014/main" id="{F145256F-CDB3-C6B0-613C-4BF19EC8914B}"/>
              </a:ext>
            </a:extLst>
          </p:cNvPr>
          <p:cNvSpPr/>
          <p:nvPr/>
        </p:nvSpPr>
        <p:spPr>
          <a:xfrm>
            <a:off x="778644" y="2192348"/>
            <a:ext cx="5554062" cy="29730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1" name="Săgeată: dreapta 10">
            <a:extLst>
              <a:ext uri="{FF2B5EF4-FFF2-40B4-BE49-F238E27FC236}">
                <a16:creationId xmlns:a16="http://schemas.microsoft.com/office/drawing/2014/main" id="{40B64D83-AAD1-31EA-315F-3544E9284876}"/>
              </a:ext>
            </a:extLst>
          </p:cNvPr>
          <p:cNvSpPr/>
          <p:nvPr/>
        </p:nvSpPr>
        <p:spPr>
          <a:xfrm>
            <a:off x="875026" y="2521904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2" name="Săgeată: dreapta 11">
            <a:extLst>
              <a:ext uri="{FF2B5EF4-FFF2-40B4-BE49-F238E27FC236}">
                <a16:creationId xmlns:a16="http://schemas.microsoft.com/office/drawing/2014/main" id="{BDB8ED42-0A4A-B3FC-0BBA-50900EE5D43D}"/>
              </a:ext>
            </a:extLst>
          </p:cNvPr>
          <p:cNvSpPr/>
          <p:nvPr/>
        </p:nvSpPr>
        <p:spPr>
          <a:xfrm>
            <a:off x="875026" y="3059192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3" name="Dreptunghi 12">
            <a:extLst>
              <a:ext uri="{FF2B5EF4-FFF2-40B4-BE49-F238E27FC236}">
                <a16:creationId xmlns:a16="http://schemas.microsoft.com/office/drawing/2014/main" id="{44F9EA9E-B324-2D71-39DA-66D0C8A9A0FA}"/>
              </a:ext>
            </a:extLst>
          </p:cNvPr>
          <p:cNvSpPr/>
          <p:nvPr/>
        </p:nvSpPr>
        <p:spPr>
          <a:xfrm>
            <a:off x="778642" y="3835045"/>
            <a:ext cx="4970405" cy="28656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4" name="Săgeată: dreapta 13">
            <a:extLst>
              <a:ext uri="{FF2B5EF4-FFF2-40B4-BE49-F238E27FC236}">
                <a16:creationId xmlns:a16="http://schemas.microsoft.com/office/drawing/2014/main" id="{F5F155CC-54E6-568F-66A4-DCDF60EDE980}"/>
              </a:ext>
            </a:extLst>
          </p:cNvPr>
          <p:cNvSpPr/>
          <p:nvPr/>
        </p:nvSpPr>
        <p:spPr>
          <a:xfrm>
            <a:off x="875024" y="4193775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5" name="Săgeată: dreapta 14">
            <a:extLst>
              <a:ext uri="{FF2B5EF4-FFF2-40B4-BE49-F238E27FC236}">
                <a16:creationId xmlns:a16="http://schemas.microsoft.com/office/drawing/2014/main" id="{B3FF3483-1812-F096-4ADC-62DBFA755449}"/>
              </a:ext>
            </a:extLst>
          </p:cNvPr>
          <p:cNvSpPr/>
          <p:nvPr/>
        </p:nvSpPr>
        <p:spPr>
          <a:xfrm>
            <a:off x="875024" y="4731063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  <p:sp>
        <p:nvSpPr>
          <p:cNvPr id="16" name="Săgeată: dreapta 15">
            <a:extLst>
              <a:ext uri="{FF2B5EF4-FFF2-40B4-BE49-F238E27FC236}">
                <a16:creationId xmlns:a16="http://schemas.microsoft.com/office/drawing/2014/main" id="{6182BAF6-B903-28C9-E876-4C2FE89DE3B0}"/>
              </a:ext>
            </a:extLst>
          </p:cNvPr>
          <p:cNvSpPr/>
          <p:nvPr/>
        </p:nvSpPr>
        <p:spPr>
          <a:xfrm>
            <a:off x="877664" y="5257407"/>
            <a:ext cx="294935" cy="214487"/>
          </a:xfrm>
          <a:prstGeom prst="rightArrow">
            <a:avLst/>
          </a:prstGeom>
          <a:solidFill>
            <a:srgbClr val="00B05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06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ubstituent imagine 10" descr="Fundal abstract">
            <a:extLst>
              <a:ext uri="{FF2B5EF4-FFF2-40B4-BE49-F238E27FC236}">
                <a16:creationId xmlns:a16="http://schemas.microsoft.com/office/drawing/2014/main" id="{1AFB289C-7992-E904-3106-E3E6A45D4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2" y="1682496"/>
            <a:ext cx="12185968" cy="3493008"/>
          </a:xfrm>
          <a:prstGeom prst="rect">
            <a:avLst/>
          </a:prstGeom>
        </p:spPr>
      </p:pic>
      <p:sp>
        <p:nvSpPr>
          <p:cNvPr id="4" name="Titlu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393" y="2118367"/>
            <a:ext cx="9541213" cy="2621265"/>
          </a:xfrm>
        </p:spPr>
        <p:txBody>
          <a:bodyPr rtlCol="0">
            <a:noAutofit/>
          </a:bodyPr>
          <a:lstStyle/>
          <a:p>
            <a:pPr algn="ctr" rtl="0"/>
            <a:r>
              <a:rPr lang="ro-RO" sz="6000" dirty="0"/>
              <a:t>Vă mulțumesc </a:t>
            </a:r>
            <a:br>
              <a:rPr lang="ro-RO" sz="6000" dirty="0"/>
            </a:br>
            <a:r>
              <a:rPr lang="ro-RO" sz="6000" dirty="0"/>
              <a:t>pentru atenția acordată!</a:t>
            </a:r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ă Office">
  <a:themeElements>
    <a:clrScheme name="Custom 12">
      <a:dk1>
        <a:srgbClr val="00BBBB"/>
      </a:dk1>
      <a:lt1>
        <a:srgbClr val="000000"/>
      </a:lt1>
      <a:dk2>
        <a:srgbClr val="999999"/>
      </a:dk2>
      <a:lt2>
        <a:srgbClr val="FFFFFF"/>
      </a:lt2>
      <a:accent1>
        <a:srgbClr val="004448"/>
      </a:accent1>
      <a:accent2>
        <a:srgbClr val="482845"/>
      </a:accent2>
      <a:accent3>
        <a:srgbClr val="7A0000"/>
      </a:accent3>
      <a:accent4>
        <a:srgbClr val="969959"/>
      </a:accent4>
      <a:accent5>
        <a:srgbClr val="225B5F"/>
      </a:accent5>
      <a:accent6>
        <a:srgbClr val="3D8C41"/>
      </a:accent6>
      <a:hlink>
        <a:srgbClr val="7F7F7F"/>
      </a:hlink>
      <a:folHlink>
        <a:srgbClr val="7F7F7F"/>
      </a:folHlink>
    </a:clrScheme>
    <a:fontScheme name="Custom 13">
      <a:majorFont>
        <a:latin typeface="Gill Sans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2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5055251_TF56488565" id="{99AE117C-5766-41E4-BBEA-BD27838E8496}" vid="{B43D1C15-DF83-40B2-8395-3FBA03A95F78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DE2CC379442A4D8483D9D7B1BA3E35" ma:contentTypeVersion="3" ma:contentTypeDescription="Create a new document." ma:contentTypeScope="" ma:versionID="efbadc1e845542c3f471c9fc6745ae9c">
  <xsd:schema xmlns:xsd="http://www.w3.org/2001/XMLSchema" xmlns:xs="http://www.w3.org/2001/XMLSchema" xmlns:p="http://schemas.microsoft.com/office/2006/metadata/properties" xmlns:ns2="a1b380a0-b262-4a13-9203-497a21b8eee5" targetNamespace="http://schemas.microsoft.com/office/2006/metadata/properties" ma:root="true" ma:fieldsID="335cff0a66f7d2eed3ff4df6b121d909" ns2:_="">
    <xsd:import namespace="a1b380a0-b262-4a13-9203-497a21b8e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b380a0-b262-4a13-9203-497a21b8e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1E8AE2-F99B-4B29-BEC8-E22FE93A9DA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E034B0-195C-40A5-B5CE-B16D99A92EC9}"/>
</file>

<file path=customXml/itemProps3.xml><?xml version="1.0" encoding="utf-8"?>
<ds:datastoreItem xmlns:ds="http://schemas.openxmlformats.org/officeDocument/2006/customXml" ds:itemID="{DC9554BC-C08E-40F9-B8F5-FB84A61E0F56}"/>
</file>

<file path=docProps/app.xml><?xml version="1.0" encoding="utf-8"?>
<Properties xmlns="http://schemas.openxmlformats.org/officeDocument/2006/extended-properties" xmlns:vt="http://schemas.openxmlformats.org/officeDocument/2006/docPropsVTypes">
  <Template>Prezentare futuristă</Template>
  <TotalTime>24217</TotalTime>
  <Words>2738</Words>
  <Application>Microsoft Office PowerPoint</Application>
  <PresentationFormat>Ecran lat</PresentationFormat>
  <Paragraphs>387</Paragraphs>
  <Slides>30</Slides>
  <Notes>30</Notes>
  <HiddenSlides>0</HiddenSlides>
  <MMClips>11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30</vt:i4>
      </vt:variant>
    </vt:vector>
  </HeadingPairs>
  <TitlesOfParts>
    <vt:vector size="36" baseType="lpstr">
      <vt:lpstr>Arial</vt:lpstr>
      <vt:lpstr>Calibri</vt:lpstr>
      <vt:lpstr>Courier New</vt:lpstr>
      <vt:lpstr>Segoe UI Light</vt:lpstr>
      <vt:lpstr>Tahoma</vt:lpstr>
      <vt:lpstr>Temă Office</vt:lpstr>
      <vt:lpstr>ORGANE DE MAȘINI ȘI TEHNOLOGIE MECANICĂ PENTRU INSTALAȚII</vt:lpstr>
      <vt:lpstr>Organe de  siguranță  în instalații</vt:lpstr>
      <vt:lpstr>Organe  de siguranță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Vă mulțumesc  pentru atenția acordată!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ORGANE DE MAȘINI ȘI TEHNOLOGIE MECANICĂ PENTRU INSTALAȚII</dc:title>
  <dc:creator>Constantin Cilibiu</dc:creator>
  <cp:lastModifiedBy>Constantin Cilibiu</cp:lastModifiedBy>
  <cp:revision>368</cp:revision>
  <dcterms:created xsi:type="dcterms:W3CDTF">2024-09-29T10:19:39Z</dcterms:created>
  <dcterms:modified xsi:type="dcterms:W3CDTF">2025-12-09T19:08:36Z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2024-09-29T10:21:23Z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35f8927b-c84f-4324-8e5c-3956ce67426c</vt:lpwstr>
  </property>
  <property fmtid="{D5CDD505-2E9C-101B-9397-08002B2CF9AE}" pid="8" name="MSIP_Label_5b58b62f-6f94-46bd-8089-18e64b0a9abb_ContentBits">
    <vt:lpwstr>0</vt:lpwstr>
  </property>
  <property fmtid="{D5CDD505-2E9C-101B-9397-08002B2CF9AE}" pid="9" name="ContentTypeId">
    <vt:lpwstr>0x010100E4DE2CC379442A4D8483D9D7B1BA3E35</vt:lpwstr>
  </property>
</Properties>
</file>